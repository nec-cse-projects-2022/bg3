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jpeg"/>
  <Override PartName="/ppt/media/image7.jpg" ContentType="image/jpeg"/>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58" r:id="rId3"/>
    <p:sldId id="259" r:id="rId4"/>
    <p:sldId id="260" r:id="rId5"/>
    <p:sldId id="280" r:id="rId6"/>
    <p:sldId id="281" r:id="rId7"/>
    <p:sldId id="282" r:id="rId8"/>
    <p:sldId id="262" r:id="rId9"/>
    <p:sldId id="276" r:id="rId10"/>
    <p:sldId id="263" r:id="rId11"/>
    <p:sldId id="264" r:id="rId12"/>
    <p:sldId id="265" r:id="rId13"/>
    <p:sldId id="266" r:id="rId14"/>
    <p:sldId id="286" r:id="rId15"/>
    <p:sldId id="267" r:id="rId16"/>
    <p:sldId id="284" r:id="rId17"/>
    <p:sldId id="285" r:id="rId18"/>
    <p:sldId id="277" r:id="rId19"/>
    <p:sldId id="268" r:id="rId20"/>
    <p:sldId id="269" r:id="rId21"/>
    <p:sldId id="287" r:id="rId22"/>
    <p:sldId id="278" r:id="rId23"/>
    <p:sldId id="270" r:id="rId24"/>
    <p:sldId id="271" r:id="rId25"/>
    <p:sldId id="279" r:id="rId26"/>
    <p:sldId id="283" r:id="rId27"/>
    <p:sldId id="272" r:id="rId28"/>
    <p:sldId id="273" r:id="rId2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E2F65E-FAEA-FCFD-4B16-5C2377FB0B3E}" v="273" dt="2025-11-10T16:30:31.6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6722B98-188E-45D3-9771-53015DCEA9BD}" type="datetimeFigureOut">
              <a:rPr lang="en-IN" smtClean="0"/>
              <a:t>11-11-2025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90E2F6F-C300-48B8-AB12-E45B87785B46}" type="slidenum">
              <a:rPr lang="en-IN" smtClean="0"/>
              <a:t>‹#›</a:t>
            </a:fld>
            <a:endParaRPr lang="en-IN"/>
          </a:p>
        </p:txBody>
      </p:sp>
    </p:spTree>
    <p:extLst>
      <p:ext uri="{BB962C8B-B14F-4D97-AF65-F5344CB8AC3E}">
        <p14:creationId xmlns:p14="http://schemas.microsoft.com/office/powerpoint/2010/main" val="681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t>6</a:t>
            </a:fld>
            <a:endParaRPr lang="en-IN"/>
          </a:p>
        </p:txBody>
      </p:sp>
    </p:spTree>
    <p:extLst>
      <p:ext uri="{BB962C8B-B14F-4D97-AF65-F5344CB8AC3E}">
        <p14:creationId xmlns:p14="http://schemas.microsoft.com/office/powerpoint/2010/main" val="3372976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t>8</a:t>
            </a:fld>
            <a:endParaRPr lang="en-IN"/>
          </a:p>
        </p:txBody>
      </p:sp>
    </p:spTree>
    <p:extLst>
      <p:ext uri="{BB962C8B-B14F-4D97-AF65-F5344CB8AC3E}">
        <p14:creationId xmlns:p14="http://schemas.microsoft.com/office/powerpoint/2010/main" val="1530334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t>25</a:t>
            </a:fld>
            <a:endParaRPr lang="en-IN"/>
          </a:p>
        </p:txBody>
      </p:sp>
    </p:spTree>
    <p:extLst>
      <p:ext uri="{BB962C8B-B14F-4D97-AF65-F5344CB8AC3E}">
        <p14:creationId xmlns:p14="http://schemas.microsoft.com/office/powerpoint/2010/main" val="2022467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dirty="0"/>
              <a:t>Batch</a:t>
            </a:r>
            <a:r>
              <a:rPr spc="-55" dirty="0"/>
              <a:t> </a:t>
            </a:r>
            <a:r>
              <a:rPr spc="-25" dirty="0"/>
              <a:t>No.</a:t>
            </a:r>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10" dirty="0"/>
              <a:t>19-12-</a:t>
            </a:r>
            <a:r>
              <a:rPr spc="-20" dirty="0"/>
              <a:t>2024</a:t>
            </a:r>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45463" y="283463"/>
            <a:ext cx="10101072" cy="1498341"/>
          </a:xfrm>
          <a:prstGeom prst="rect">
            <a:avLst/>
          </a:prstGeom>
        </p:spPr>
        <p:txBody>
          <a:bodyPr vert="horz" wrap="square" lIns="0" tIns="478010" rIns="0" bIns="0" rtlCol="0" anchor="t">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br>
              <a:rPr lang="en-IN" sz="1800" spc="-10" dirty="0"/>
            </a:br>
            <a:r>
              <a:rPr lang="en-US" sz="2400" spc="-10" dirty="0">
                <a:solidFill>
                  <a:srgbClr val="FF0000"/>
                </a:solidFill>
              </a:rPr>
              <a:t>Automated Malaria Identification Using a Hybrid CNN-RNN Model on Microscopic Blood Smears</a:t>
            </a:r>
            <a:endParaRPr sz="2400" dirty="0">
              <a:solidFill>
                <a:srgbClr val="FF0000"/>
              </a:solidFill>
            </a:endParaRPr>
          </a:p>
        </p:txBody>
      </p:sp>
      <p:sp>
        <p:nvSpPr>
          <p:cNvPr id="4" name="object 4"/>
          <p:cNvSpPr txBox="1"/>
          <p:nvPr/>
        </p:nvSpPr>
        <p:spPr>
          <a:xfrm>
            <a:off x="5704840" y="1946592"/>
            <a:ext cx="1503045"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Times New Roman"/>
                <a:cs typeface="Times New Roman"/>
              </a:rPr>
              <a:t>PRESENTED</a:t>
            </a:r>
            <a:r>
              <a:rPr sz="1550" spc="175" dirty="0">
                <a:latin typeface="Times New Roman"/>
                <a:cs typeface="Times New Roman"/>
              </a:rPr>
              <a:t> </a:t>
            </a:r>
            <a:r>
              <a:rPr sz="1550" spc="-25" dirty="0">
                <a:latin typeface="Times New Roman"/>
                <a:cs typeface="Times New Roman"/>
              </a:rPr>
              <a:t>BY</a:t>
            </a:r>
            <a:endParaRPr sz="1550" dirty="0">
              <a:latin typeface="Times New Roman"/>
              <a:cs typeface="Times New Roman"/>
            </a:endParaRPr>
          </a:p>
        </p:txBody>
      </p:sp>
      <p:sp>
        <p:nvSpPr>
          <p:cNvPr id="5" name="object 5"/>
          <p:cNvSpPr txBox="1"/>
          <p:nvPr/>
        </p:nvSpPr>
        <p:spPr>
          <a:xfrm>
            <a:off x="3714748" y="2023891"/>
            <a:ext cx="1990091" cy="983026"/>
          </a:xfrm>
          <a:prstGeom prst="rect">
            <a:avLst/>
          </a:prstGeom>
        </p:spPr>
        <p:txBody>
          <a:bodyPr vert="horz" wrap="square" lIns="0" tIns="12065" rIns="0" bIns="0" rtlCol="0">
            <a:spAutoFit/>
          </a:bodyPr>
          <a:lstStyle/>
          <a:p>
            <a:pPr marL="12700" marR="5080" algn="just">
              <a:lnSpc>
                <a:spcPct val="137300"/>
              </a:lnSpc>
              <a:spcBef>
                <a:spcPts val="95"/>
              </a:spcBef>
            </a:pPr>
            <a:r>
              <a:rPr lang="en-IN" sz="1550" spc="-10" dirty="0">
                <a:latin typeface="Times New Roman"/>
                <a:cs typeface="Times New Roman"/>
              </a:rPr>
              <a:t>Hashmi Patan </a:t>
            </a:r>
          </a:p>
          <a:p>
            <a:pPr marL="12700" marR="5080" algn="just">
              <a:lnSpc>
                <a:spcPct val="137300"/>
              </a:lnSpc>
              <a:spcBef>
                <a:spcPts val="95"/>
              </a:spcBef>
            </a:pPr>
            <a:r>
              <a:rPr lang="en-IN" sz="1550" spc="-10" dirty="0">
                <a:latin typeface="Times New Roman"/>
                <a:cs typeface="Times New Roman"/>
              </a:rPr>
              <a:t>Hemalatha Muchumari</a:t>
            </a:r>
          </a:p>
          <a:p>
            <a:pPr marL="12700" marR="5080" algn="just">
              <a:lnSpc>
                <a:spcPct val="137300"/>
              </a:lnSpc>
              <a:spcBef>
                <a:spcPts val="95"/>
              </a:spcBef>
            </a:pPr>
            <a:r>
              <a:rPr lang="en-IN" sz="1550" spc="-10" dirty="0">
                <a:latin typeface="Times New Roman"/>
                <a:cs typeface="Times New Roman"/>
              </a:rPr>
              <a:t>Anusha </a:t>
            </a:r>
            <a:r>
              <a:rPr lang="en-IN" sz="1550" spc="-10" dirty="0" err="1">
                <a:latin typeface="Times New Roman"/>
                <a:cs typeface="Times New Roman"/>
              </a:rPr>
              <a:t>pinnaboeina</a:t>
            </a:r>
            <a:endParaRPr sz="1550" dirty="0">
              <a:latin typeface="Times New Roman"/>
              <a:cs typeface="Times New Roman"/>
            </a:endParaRPr>
          </a:p>
        </p:txBody>
      </p:sp>
      <p:sp>
        <p:nvSpPr>
          <p:cNvPr id="6" name="object 6"/>
          <p:cNvSpPr txBox="1"/>
          <p:nvPr/>
        </p:nvSpPr>
        <p:spPr>
          <a:xfrm>
            <a:off x="7452359" y="1998043"/>
            <a:ext cx="1503045" cy="995785"/>
          </a:xfrm>
          <a:prstGeom prst="rect">
            <a:avLst/>
          </a:prstGeom>
        </p:spPr>
        <p:txBody>
          <a:bodyPr vert="horz" wrap="square" lIns="0" tIns="99695" rIns="0" bIns="0" rtlCol="0">
            <a:spAutoFit/>
          </a:bodyPr>
          <a:lstStyle/>
          <a:p>
            <a:pPr marL="12700">
              <a:lnSpc>
                <a:spcPct val="100000"/>
              </a:lnSpc>
              <a:spcBef>
                <a:spcPts val="785"/>
              </a:spcBef>
            </a:pPr>
            <a:r>
              <a:rPr sz="1550" dirty="0">
                <a:latin typeface="Times New Roman"/>
                <a:cs typeface="Times New Roman"/>
              </a:rPr>
              <a:t>(</a:t>
            </a:r>
            <a:r>
              <a:rPr lang="en-IN" sz="1550" dirty="0">
                <a:latin typeface="Times New Roman"/>
                <a:cs typeface="Times New Roman"/>
              </a:rPr>
              <a:t>22471A05B6</a:t>
            </a:r>
            <a:r>
              <a:rPr sz="1550" spc="-20" dirty="0">
                <a:latin typeface="Times New Roman"/>
                <a:cs typeface="Times New Roman"/>
              </a:rPr>
              <a:t>)</a:t>
            </a:r>
            <a:endParaRPr sz="1550" dirty="0">
              <a:latin typeface="Times New Roman"/>
              <a:cs typeface="Times New Roman"/>
            </a:endParaRPr>
          </a:p>
          <a:p>
            <a:pPr marL="12700">
              <a:lnSpc>
                <a:spcPct val="100000"/>
              </a:lnSpc>
              <a:spcBef>
                <a:spcPts val="695"/>
              </a:spcBef>
            </a:pPr>
            <a:r>
              <a:rPr sz="1550" dirty="0">
                <a:latin typeface="Times New Roman"/>
                <a:cs typeface="Times New Roman"/>
              </a:rPr>
              <a:t>(</a:t>
            </a:r>
            <a:r>
              <a:rPr lang="en-IN" sz="1550" dirty="0">
                <a:latin typeface="Times New Roman"/>
                <a:cs typeface="Times New Roman"/>
              </a:rPr>
              <a:t>22471A0596</a:t>
            </a:r>
            <a:r>
              <a:rPr sz="1550" spc="-20" dirty="0">
                <a:latin typeface="Times New Roman"/>
                <a:cs typeface="Times New Roman"/>
              </a:rPr>
              <a:t>)</a:t>
            </a:r>
            <a:endParaRPr sz="1550" dirty="0">
              <a:latin typeface="Times New Roman"/>
              <a:cs typeface="Times New Roman"/>
            </a:endParaRPr>
          </a:p>
          <a:p>
            <a:pPr marL="12700">
              <a:lnSpc>
                <a:spcPct val="100000"/>
              </a:lnSpc>
              <a:spcBef>
                <a:spcPts val="695"/>
              </a:spcBef>
            </a:pPr>
            <a:r>
              <a:rPr sz="1550" dirty="0">
                <a:latin typeface="Times New Roman"/>
                <a:cs typeface="Times New Roman"/>
              </a:rPr>
              <a:t>(</a:t>
            </a:r>
            <a:r>
              <a:rPr lang="en-IN" sz="1550" dirty="0">
                <a:latin typeface="Times New Roman"/>
                <a:cs typeface="Times New Roman"/>
              </a:rPr>
              <a:t>22471A05C0</a:t>
            </a:r>
            <a:r>
              <a:rPr sz="1550" spc="-20" dirty="0">
                <a:latin typeface="Times New Roman"/>
                <a:cs typeface="Times New Roman"/>
              </a:rPr>
              <a:t>)</a:t>
            </a:r>
            <a:endParaRPr sz="1550" dirty="0">
              <a:latin typeface="Times New Roman"/>
              <a:cs typeface="Times New Roman"/>
            </a:endParaRPr>
          </a:p>
        </p:txBody>
      </p:sp>
      <p:sp>
        <p:nvSpPr>
          <p:cNvPr id="7" name="object 7"/>
          <p:cNvSpPr txBox="1"/>
          <p:nvPr/>
        </p:nvSpPr>
        <p:spPr>
          <a:xfrm>
            <a:off x="4064634" y="3599878"/>
            <a:ext cx="4304665" cy="2249805"/>
          </a:xfrm>
          <a:prstGeom prst="rect">
            <a:avLst/>
          </a:prstGeom>
        </p:spPr>
        <p:txBody>
          <a:bodyPr vert="horz" wrap="square" lIns="0" tIns="12700" rIns="0" bIns="0" rtlCol="0" anchor="t">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IN" sz="1550" b="1" spc="-85" dirty="0">
                <a:latin typeface="Times New Roman"/>
                <a:cs typeface="Times New Roman"/>
              </a:rPr>
              <a:t>T.G </a:t>
            </a:r>
            <a:r>
              <a:rPr lang="en-IN" sz="1550" b="1" spc="-85" dirty="0" err="1">
                <a:latin typeface="Times New Roman"/>
                <a:cs typeface="Times New Roman"/>
              </a:rPr>
              <a:t>Ramnadh</a:t>
            </a:r>
            <a:r>
              <a:rPr lang="en-IN" sz="1550" b="1" spc="-85" dirty="0">
                <a:latin typeface="Times New Roman"/>
                <a:cs typeface="Times New Roman"/>
              </a:rPr>
              <a:t> Babu </a:t>
            </a:r>
            <a:r>
              <a:rPr lang="en-IN" sz="1550" b="1" spc="-15" baseline="-15873" dirty="0">
                <a:latin typeface="Times New Roman"/>
                <a:cs typeface="Times New Roman"/>
              </a:rPr>
              <a:t>MTech</a:t>
            </a:r>
            <a:r>
              <a:rPr sz="1550" b="1" spc="-10" dirty="0">
                <a:latin typeface="Times New Roman"/>
                <a:cs typeface="Times New Roman"/>
              </a:rPr>
              <a:t>,</a:t>
            </a:r>
            <a:endParaRPr sz="1550" dirty="0">
              <a:latin typeface="Times New Roman"/>
              <a:cs typeface="Times New Roman"/>
            </a:endParaRPr>
          </a:p>
          <a:p>
            <a:pPr algn="ctr">
              <a:lnSpc>
                <a:spcPct val="100000"/>
              </a:lnSpc>
              <a:spcBef>
                <a:spcPts val="470"/>
              </a:spcBef>
            </a:pPr>
            <a:r>
              <a:rPr lang="en-IN" sz="1550" spc="-10" dirty="0">
                <a:solidFill>
                  <a:srgbClr val="888888"/>
                </a:solidFill>
                <a:latin typeface="Times New Roman"/>
                <a:cs typeface="Times New Roman"/>
              </a:rPr>
              <a:t>Assistant professor</a:t>
            </a:r>
            <a:r>
              <a:rPr sz="1550" spc="-10" dirty="0">
                <a:solidFill>
                  <a:srgbClr val="888888"/>
                </a:solidFill>
                <a:latin typeface="Times New Roman"/>
                <a:cs typeface="Times New Roman"/>
              </a:rPr>
              <a:t>,</a:t>
            </a:r>
            <a:endParaRPr sz="1550" dirty="0">
              <a:latin typeface="Times New Roman"/>
              <a:cs typeface="Times New Roman"/>
            </a:endParaRPr>
          </a:p>
          <a:p>
            <a:pPr algn="ctr">
              <a:lnSpc>
                <a:spcPct val="100000"/>
              </a:lnSpc>
              <a:spcBef>
                <a:spcPts val="995"/>
              </a:spcBef>
            </a:pPr>
            <a:r>
              <a:rPr sz="1550" dirty="0">
                <a:solidFill>
                  <a:srgbClr val="888888"/>
                </a:solidFill>
                <a:latin typeface="Times New Roman"/>
                <a:cs typeface="Times New Roman"/>
              </a:rPr>
              <a:t>Department</a:t>
            </a:r>
            <a:r>
              <a:rPr sz="1550" spc="90" dirty="0">
                <a:solidFill>
                  <a:srgbClr val="888888"/>
                </a:solidFill>
                <a:latin typeface="Times New Roman"/>
                <a:cs typeface="Times New Roman"/>
              </a:rPr>
              <a:t> </a:t>
            </a:r>
            <a:r>
              <a:rPr sz="1550" dirty="0">
                <a:solidFill>
                  <a:srgbClr val="888888"/>
                </a:solidFill>
                <a:latin typeface="Times New Roman"/>
                <a:cs typeface="Times New Roman"/>
              </a:rPr>
              <a:t>of</a:t>
            </a:r>
            <a:r>
              <a:rPr sz="1550" spc="180" dirty="0">
                <a:solidFill>
                  <a:srgbClr val="888888"/>
                </a:solidFill>
                <a:latin typeface="Times New Roman"/>
                <a:cs typeface="Times New Roman"/>
              </a:rPr>
              <a:t> </a:t>
            </a:r>
            <a:r>
              <a:rPr sz="1550" dirty="0">
                <a:solidFill>
                  <a:srgbClr val="888888"/>
                </a:solidFill>
                <a:latin typeface="Times New Roman"/>
                <a:cs typeface="Times New Roman"/>
              </a:rPr>
              <a:t>Computer</a:t>
            </a:r>
            <a:r>
              <a:rPr sz="1550" spc="80" dirty="0">
                <a:solidFill>
                  <a:srgbClr val="888888"/>
                </a:solidFill>
                <a:latin typeface="Times New Roman"/>
                <a:cs typeface="Times New Roman"/>
              </a:rPr>
              <a:t> </a:t>
            </a:r>
            <a:r>
              <a:rPr sz="1550" dirty="0">
                <a:solidFill>
                  <a:srgbClr val="888888"/>
                </a:solidFill>
                <a:latin typeface="Times New Roman"/>
                <a:cs typeface="Times New Roman"/>
              </a:rPr>
              <a:t>Science</a:t>
            </a:r>
            <a:r>
              <a:rPr sz="1550" spc="145" dirty="0">
                <a:solidFill>
                  <a:srgbClr val="888888"/>
                </a:solidFill>
                <a:latin typeface="Times New Roman"/>
                <a:cs typeface="Times New Roman"/>
              </a:rPr>
              <a:t> </a:t>
            </a:r>
            <a:r>
              <a:rPr sz="1550" dirty="0">
                <a:solidFill>
                  <a:srgbClr val="888888"/>
                </a:solidFill>
                <a:latin typeface="Times New Roman"/>
                <a:cs typeface="Times New Roman"/>
              </a:rPr>
              <a:t>and</a:t>
            </a:r>
            <a:r>
              <a:rPr sz="1550" spc="135"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57785" marR="60960" algn="ctr">
              <a:lnSpc>
                <a:spcPct val="173700"/>
              </a:lnSpc>
              <a:spcBef>
                <a:spcPts val="70"/>
              </a:spcBef>
            </a:pPr>
            <a:r>
              <a:rPr sz="1550" dirty="0">
                <a:solidFill>
                  <a:srgbClr val="888888"/>
                </a:solidFill>
                <a:latin typeface="Times New Roman"/>
                <a:cs typeface="Times New Roman"/>
              </a:rPr>
              <a:t>Narasaraopeta</a:t>
            </a:r>
            <a:r>
              <a:rPr sz="1550" spc="200" dirty="0">
                <a:solidFill>
                  <a:srgbClr val="888888"/>
                </a:solidFill>
                <a:latin typeface="Times New Roman"/>
                <a:cs typeface="Times New Roman"/>
              </a:rPr>
              <a:t> </a:t>
            </a:r>
            <a:r>
              <a:rPr sz="1550" dirty="0">
                <a:solidFill>
                  <a:srgbClr val="888888"/>
                </a:solidFill>
                <a:latin typeface="Times New Roman"/>
                <a:cs typeface="Times New Roman"/>
              </a:rPr>
              <a:t>Engineering</a:t>
            </a:r>
            <a:r>
              <a:rPr sz="1550" spc="185" dirty="0">
                <a:solidFill>
                  <a:srgbClr val="888888"/>
                </a:solidFill>
                <a:latin typeface="Times New Roman"/>
                <a:cs typeface="Times New Roman"/>
              </a:rPr>
              <a:t> </a:t>
            </a:r>
            <a:r>
              <a:rPr sz="1550" dirty="0">
                <a:solidFill>
                  <a:srgbClr val="888888"/>
                </a:solidFill>
                <a:latin typeface="Times New Roman"/>
                <a:cs typeface="Times New Roman"/>
              </a:rPr>
              <a:t>College</a:t>
            </a:r>
            <a:r>
              <a:rPr sz="1550" spc="204" dirty="0">
                <a:solidFill>
                  <a:srgbClr val="888888"/>
                </a:solidFill>
                <a:latin typeface="Times New Roman"/>
                <a:cs typeface="Times New Roman"/>
              </a:rPr>
              <a:t> </a:t>
            </a:r>
            <a:r>
              <a:rPr sz="1550" spc="-10" dirty="0">
                <a:solidFill>
                  <a:srgbClr val="888888"/>
                </a:solidFill>
                <a:latin typeface="Times New Roman"/>
                <a:cs typeface="Times New Roman"/>
              </a:rPr>
              <a:t>(Autonomous), </a:t>
            </a:r>
            <a:r>
              <a:rPr sz="1550" dirty="0">
                <a:solidFill>
                  <a:srgbClr val="888888"/>
                </a:solidFill>
                <a:latin typeface="Times New Roman"/>
                <a:cs typeface="Times New Roman"/>
              </a:rPr>
              <a:t>Narasaraopet-</a:t>
            </a:r>
            <a:r>
              <a:rPr sz="1550" spc="150" dirty="0">
                <a:solidFill>
                  <a:srgbClr val="888888"/>
                </a:solidFill>
                <a:latin typeface="Times New Roman"/>
                <a:cs typeface="Times New Roman"/>
              </a:rPr>
              <a:t> </a:t>
            </a:r>
            <a:r>
              <a:rPr sz="1550" dirty="0">
                <a:solidFill>
                  <a:srgbClr val="888888"/>
                </a:solidFill>
                <a:latin typeface="Times New Roman"/>
                <a:cs typeface="Times New Roman"/>
              </a:rPr>
              <a:t>522</a:t>
            </a:r>
            <a:r>
              <a:rPr sz="1550" spc="150" dirty="0">
                <a:solidFill>
                  <a:srgbClr val="888888"/>
                </a:solidFill>
                <a:latin typeface="Times New Roman"/>
                <a:cs typeface="Times New Roman"/>
              </a:rPr>
              <a:t> </a:t>
            </a:r>
            <a:r>
              <a:rPr sz="1550" spc="-20" dirty="0">
                <a:solidFill>
                  <a:srgbClr val="888888"/>
                </a:solidFill>
                <a:latin typeface="Times New Roman"/>
                <a:cs typeface="Times New Roman"/>
              </a:rPr>
              <a:t>601.</a:t>
            </a:r>
            <a:endParaRPr sz="1550" dirty="0">
              <a:latin typeface="Times New Roman"/>
              <a:cs typeface="Times New Roman"/>
            </a:endParaRPr>
          </a:p>
        </p:txBody>
      </p:sp>
      <p:pic>
        <p:nvPicPr>
          <p:cNvPr id="8" name="object 8"/>
          <p:cNvPicPr/>
          <p:nvPr/>
        </p:nvPicPr>
        <p:blipFill>
          <a:blip r:embed="rId2"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10" name="object 10"/>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12" name="object 12"/>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a:cs typeface="Times New Roman"/>
              </a:rPr>
              <a:t>Abstract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Introduction</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Literature</a:t>
            </a:r>
            <a:r>
              <a:rPr sz="1800" spc="-10" dirty="0">
                <a:latin typeface="Times New Roman"/>
                <a:cs typeface="Times New Roman"/>
              </a:rPr>
              <a:t> Survey</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Research</a:t>
            </a:r>
            <a:r>
              <a:rPr sz="1800" spc="-40" dirty="0">
                <a:latin typeface="Times New Roman"/>
                <a:cs typeface="Times New Roman"/>
              </a:rPr>
              <a:t> </a:t>
            </a:r>
            <a:r>
              <a:rPr sz="1800" spc="-20" dirty="0">
                <a:latin typeface="Times New Roman"/>
                <a:cs typeface="Times New Roman"/>
              </a:rPr>
              <a:t>Gaps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Problem</a:t>
            </a:r>
            <a:r>
              <a:rPr sz="1800" spc="-50" dirty="0">
                <a:latin typeface="Times New Roman"/>
                <a:cs typeface="Times New Roman"/>
              </a:rPr>
              <a:t> </a:t>
            </a:r>
            <a:r>
              <a:rPr sz="1800" spc="-10" dirty="0">
                <a:latin typeface="Times New Roman"/>
                <a:cs typeface="Times New Roman"/>
              </a:rPr>
              <a:t>Statement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Objectives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Block</a:t>
            </a:r>
            <a:r>
              <a:rPr sz="1800" spc="-10" dirty="0">
                <a:latin typeface="Times New Roman"/>
                <a:cs typeface="Times New Roman"/>
              </a:rPr>
              <a:t> </a:t>
            </a:r>
            <a:r>
              <a:rPr sz="1800" dirty="0">
                <a:latin typeface="Times New Roman"/>
                <a:cs typeface="Times New Roman"/>
              </a:rPr>
              <a:t>Diagram</a:t>
            </a:r>
            <a:r>
              <a:rPr sz="1800" spc="-5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Flow</a:t>
            </a:r>
            <a:r>
              <a:rPr sz="1800" spc="-30" dirty="0">
                <a:latin typeface="Times New Roman"/>
                <a:cs typeface="Times New Roman"/>
              </a:rPr>
              <a:t> </a:t>
            </a:r>
            <a:r>
              <a:rPr sz="1800" spc="-10" dirty="0">
                <a:latin typeface="Times New Roman"/>
                <a:cs typeface="Times New Roman"/>
              </a:rPr>
              <a:t>Diagram</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Methodology</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spc="-10" dirty="0">
                <a:latin typeface="Times New Roman"/>
                <a:cs typeface="Times New Roman"/>
              </a:rPr>
              <a:t>Implementation</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Results</a:t>
            </a:r>
            <a:r>
              <a:rPr sz="1800" spc="10" dirty="0">
                <a:latin typeface="Times New Roman"/>
                <a:cs typeface="Times New Roman"/>
              </a:rPr>
              <a:t> </a:t>
            </a:r>
            <a:r>
              <a:rPr sz="1800" spc="-20" dirty="0">
                <a:latin typeface="Times New Roman"/>
                <a:cs typeface="Times New Roman"/>
              </a:rPr>
              <a:t>and</a:t>
            </a:r>
            <a:r>
              <a:rPr sz="1800" spc="-90" dirty="0">
                <a:latin typeface="Times New Roman"/>
                <a:cs typeface="Times New Roman"/>
              </a:rPr>
              <a:t> </a:t>
            </a:r>
            <a:r>
              <a:rPr sz="1800" spc="-10" dirty="0">
                <a:latin typeface="Times New Roman"/>
                <a:cs typeface="Times New Roman"/>
              </a:rPr>
              <a:t>Analysis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Conclusion</a:t>
            </a:r>
            <a:r>
              <a:rPr sz="1800" spc="-20" dirty="0">
                <a:latin typeface="Times New Roman"/>
                <a:cs typeface="Times New Roman"/>
              </a:rPr>
              <a:t> </a:t>
            </a:r>
            <a:r>
              <a:rPr sz="1800" dirty="0">
                <a:latin typeface="Times New Roman"/>
                <a:cs typeface="Times New Roman"/>
              </a:rPr>
              <a:t>&amp;</a:t>
            </a:r>
            <a:r>
              <a:rPr sz="1800" spc="-5" dirty="0">
                <a:latin typeface="Times New Roman"/>
                <a:cs typeface="Times New Roman"/>
              </a:rPr>
              <a:t> </a:t>
            </a:r>
            <a:r>
              <a:rPr sz="1800" dirty="0">
                <a:latin typeface="Times New Roman"/>
                <a:cs typeface="Times New Roman"/>
              </a:rPr>
              <a:t>Future </a:t>
            </a:r>
            <a:r>
              <a:rPr sz="1800" spc="-20" dirty="0">
                <a:latin typeface="Times New Roman"/>
                <a:cs typeface="Times New Roman"/>
              </a:rPr>
              <a:t>Scope</a:t>
            </a:r>
            <a:endParaRPr sz="1800" dirty="0">
              <a:latin typeface="Times New Roman"/>
              <a:cs typeface="Times New Roman"/>
            </a:endParaRPr>
          </a:p>
          <a:p>
            <a:pPr marL="527050" indent="-514350">
              <a:lnSpc>
                <a:spcPct val="100000"/>
              </a:lnSpc>
              <a:spcBef>
                <a:spcPts val="400"/>
              </a:spcBef>
              <a:buAutoNum type="arabicPeriod"/>
              <a:tabLst>
                <a:tab pos="527050" algn="l"/>
              </a:tabLst>
            </a:pPr>
            <a:r>
              <a:rPr sz="1800" spc="-10" dirty="0">
                <a:latin typeface="Times New Roman"/>
                <a:cs typeface="Times New Roman"/>
              </a:rPr>
              <a:t>References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Question </a:t>
            </a:r>
            <a:r>
              <a:rPr sz="1800" spc="-20" dirty="0">
                <a:latin typeface="Times New Roman"/>
                <a:cs typeface="Times New Roman"/>
              </a:rPr>
              <a:t>and</a:t>
            </a:r>
            <a:r>
              <a:rPr sz="1800" spc="-75" dirty="0">
                <a:latin typeface="Times New Roman"/>
                <a:cs typeface="Times New Roman"/>
              </a:rPr>
              <a:t> </a:t>
            </a:r>
            <a:r>
              <a:rPr sz="1800" spc="-10" dirty="0">
                <a:latin typeface="Times New Roman"/>
                <a:cs typeface="Times New Roman"/>
              </a:rPr>
              <a:t>Answers</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spc="-10" dirty="0">
                <a:latin typeface="Times New Roman"/>
                <a:cs typeface="Times New Roman"/>
              </a:rPr>
              <a:t>Acknowledgements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22" name="TextBox 21">
            <a:extLst>
              <a:ext uri="{FF2B5EF4-FFF2-40B4-BE49-F238E27FC236}">
                <a16:creationId xmlns:a16="http://schemas.microsoft.com/office/drawing/2014/main" id="{20465440-E481-F53A-B2DA-9C772BFBC643}"/>
              </a:ext>
            </a:extLst>
          </p:cNvPr>
          <p:cNvSpPr txBox="1"/>
          <p:nvPr/>
        </p:nvSpPr>
        <p:spPr>
          <a:xfrm>
            <a:off x="685800" y="457200"/>
            <a:ext cx="10460735" cy="4339650"/>
          </a:xfrm>
          <a:prstGeom prst="rect">
            <a:avLst/>
          </a:prstGeom>
          <a:noFill/>
        </p:spPr>
        <p:txBody>
          <a:bodyPr wrap="square">
            <a:spAutoFit/>
          </a:bodyPr>
          <a:lstStyle/>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Malaria remains a critical global health issue, particularly in regions lacking advanced diagnostic infrastructure. This project presents an automated deep learning-based system designed to detect malaria from microscopic blood smear images. The model integrates Convolutional Neural Networks (CNNs) for spatial feature extraction with Recurrent Neural Networks (RNNs) for temporal sequence modeling. Pretrained architectures such as DenseNet121 and MobileNetV2 were combined with LSTM, GRU,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units to build hybrid CNN-RNN frameworks. Among the proposed models, the DenseNet121-LSTM-GRU configuration achieved the highest accuracy of </a:t>
            </a:r>
            <a:r>
              <a:rPr lang="en-US" sz="2000" b="1" dirty="0">
                <a:latin typeface="Times New Roman" panose="02020603050405020304" pitchFamily="18" charset="0"/>
                <a:cs typeface="Times New Roman" panose="02020603050405020304" pitchFamily="18" charset="0"/>
              </a:rPr>
              <a:t>97.34%</a:t>
            </a:r>
            <a:r>
              <a:rPr lang="en-US" sz="2000" dirty="0">
                <a:latin typeface="Times New Roman" panose="02020603050405020304" pitchFamily="18" charset="0"/>
                <a:cs typeface="Times New Roman" panose="02020603050405020304" pitchFamily="18" charset="0"/>
              </a:rPr>
              <a:t>, demonstrating superior performance in identifying parasitized and uninfected cells. These findings confirm the effectiveness of hybrid architectures in enabling fast and accurate malaria diagnosis, contributing to improved healthcare in low-resource settings.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3" name="TextBox 2">
            <a:extLst>
              <a:ext uri="{FF2B5EF4-FFF2-40B4-BE49-F238E27FC236}">
                <a16:creationId xmlns:a16="http://schemas.microsoft.com/office/drawing/2014/main" id="{632FBF28-1AFA-685D-E7F5-E5D77945FC6A}"/>
              </a:ext>
            </a:extLst>
          </p:cNvPr>
          <p:cNvSpPr txBox="1"/>
          <p:nvPr/>
        </p:nvSpPr>
        <p:spPr>
          <a:xfrm>
            <a:off x="747623" y="1473680"/>
            <a:ext cx="10092904"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latin typeface="Times New Roman" panose="02020603050405020304" pitchFamily="18" charset="0"/>
                <a:cs typeface="Times New Roman" panose="02020603050405020304" pitchFamily="18" charset="0"/>
              </a:rPr>
              <a:t>Malaria continues to threaten millions worldwide, particularly in tropical and developing regions where diagnostic facilities are limited. Traditional microscopic examination, though effective, is time-consuming and depends heavily on the skill of medical experts, leading to variations in results. Recent progress in deep learning has enabled automated and accurate image-based diagnostic </a:t>
            </a:r>
            <a:r>
              <a:rPr lang="en-US" sz="2000" dirty="0" err="1">
                <a:latin typeface="Times New Roman" panose="02020603050405020304" pitchFamily="18" charset="0"/>
                <a:cs typeface="Times New Roman" panose="02020603050405020304" pitchFamily="18" charset="0"/>
              </a:rPr>
              <a:t>systems.This</a:t>
            </a:r>
            <a:r>
              <a:rPr lang="en-US" sz="2000" dirty="0">
                <a:latin typeface="Times New Roman" panose="02020603050405020304" pitchFamily="18" charset="0"/>
                <a:cs typeface="Times New Roman" panose="02020603050405020304" pitchFamily="18" charset="0"/>
              </a:rPr>
              <a:t> study develops a hybrid deep learning model combining Convolutional Neural Networks (CNNs) and Recurrent Neural Networks (RNNs) to improve malaria detection. CNNs extract spatial features from blood smear images, while RNN variants such as LSTM, GRU,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capture sequential relationships within these features. The combined framework enhances diagnostic accuracy, reduces manual effort, and supports faster malaria screening in resource-constrained healthcare settings.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C93AA4-6F07-0960-B61E-C3A1DED01F96}"/>
              </a:ext>
            </a:extLst>
          </p:cNvPr>
          <p:cNvPicPr>
            <a:picLocks noChangeAspect="1"/>
          </p:cNvPicPr>
          <p:nvPr/>
        </p:nvPicPr>
        <p:blipFill>
          <a:blip r:embed="rId2"/>
          <a:stretch>
            <a:fillRect/>
          </a:stretch>
        </p:blipFill>
        <p:spPr>
          <a:xfrm>
            <a:off x="457201" y="1219200"/>
            <a:ext cx="11277600" cy="5029200"/>
          </a:xfrm>
          <a:prstGeom prst="rect">
            <a:avLst/>
          </a:prstGeom>
        </p:spPr>
      </p:pic>
      <p:cxnSp>
        <p:nvCxnSpPr>
          <p:cNvPr id="7" name="Straight Connector 6">
            <a:extLst>
              <a:ext uri="{FF2B5EF4-FFF2-40B4-BE49-F238E27FC236}">
                <a16:creationId xmlns:a16="http://schemas.microsoft.com/office/drawing/2014/main" id="{24BFDC95-0310-A071-8E9C-BE7A9382D949}"/>
              </a:ext>
            </a:extLst>
          </p:cNvPr>
          <p:cNvCxnSpPr/>
          <p:nvPr/>
        </p:nvCxnSpPr>
        <p:spPr>
          <a:xfrm flipV="1">
            <a:off x="0" y="6208579"/>
            <a:ext cx="12192000" cy="39821"/>
          </a:xfrm>
          <a:prstGeom prst="line">
            <a:avLst/>
          </a:prstGeom>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5176D8F5-44AD-237B-AC94-83B016EE356C}"/>
              </a:ext>
            </a:extLst>
          </p:cNvPr>
          <p:cNvSpPr txBox="1"/>
          <p:nvPr/>
        </p:nvSpPr>
        <p:spPr>
          <a:xfrm>
            <a:off x="2819400" y="573221"/>
            <a:ext cx="7467600" cy="584775"/>
          </a:xfrm>
          <a:prstGeom prst="rect">
            <a:avLst/>
          </a:prstGeom>
          <a:noFill/>
        </p:spPr>
        <p:txBody>
          <a:bodyPr wrap="square">
            <a:spAutoFit/>
          </a:bodyPr>
          <a:lstStyle/>
          <a:p>
            <a:r>
              <a:rPr lang="en-IN" spc="-35" dirty="0"/>
              <a:t>                 </a:t>
            </a:r>
            <a:r>
              <a:rPr lang="en-IN" sz="3200" spc="-35" dirty="0"/>
              <a:t>LITERATURE</a:t>
            </a:r>
            <a:r>
              <a:rPr lang="en-IN" sz="3200" spc="-204" dirty="0"/>
              <a:t>   </a:t>
            </a:r>
            <a:r>
              <a:rPr lang="en-IN" sz="3200" spc="-10" dirty="0"/>
              <a:t>SURVEY</a:t>
            </a:r>
            <a:endParaRPr lang="en-IN" sz="3200" dirty="0"/>
          </a:p>
        </p:txBody>
      </p:sp>
      <p:cxnSp>
        <p:nvCxnSpPr>
          <p:cNvPr id="10" name="Straight Connector 9">
            <a:extLst>
              <a:ext uri="{FF2B5EF4-FFF2-40B4-BE49-F238E27FC236}">
                <a16:creationId xmlns:a16="http://schemas.microsoft.com/office/drawing/2014/main" id="{BA10187F-807A-4ADB-D3C2-931D53768B87}"/>
              </a:ext>
            </a:extLst>
          </p:cNvPr>
          <p:cNvCxnSpPr/>
          <p:nvPr/>
        </p:nvCxnSpPr>
        <p:spPr>
          <a:xfrm>
            <a:off x="457200" y="1219200"/>
            <a:ext cx="0" cy="50292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14086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71F26-8E7D-EA02-EED5-ECE971E73B9F}"/>
              </a:ext>
            </a:extLst>
          </p:cNvPr>
          <p:cNvPicPr>
            <a:picLocks noChangeAspect="1"/>
          </p:cNvPicPr>
          <p:nvPr/>
        </p:nvPicPr>
        <p:blipFill>
          <a:blip r:embed="rId3"/>
          <a:stretch>
            <a:fillRect/>
          </a:stretch>
        </p:blipFill>
        <p:spPr>
          <a:xfrm>
            <a:off x="457200" y="957936"/>
            <a:ext cx="11125200" cy="4942127"/>
          </a:xfrm>
          <a:prstGeom prst="rect">
            <a:avLst/>
          </a:prstGeom>
        </p:spPr>
      </p:pic>
      <p:cxnSp>
        <p:nvCxnSpPr>
          <p:cNvPr id="5" name="Straight Connector 4">
            <a:extLst>
              <a:ext uri="{FF2B5EF4-FFF2-40B4-BE49-F238E27FC236}">
                <a16:creationId xmlns:a16="http://schemas.microsoft.com/office/drawing/2014/main" id="{257171CB-5F1B-6ADB-82DB-EC6F1B915116}"/>
              </a:ext>
            </a:extLst>
          </p:cNvPr>
          <p:cNvCxnSpPr/>
          <p:nvPr/>
        </p:nvCxnSpPr>
        <p:spPr>
          <a:xfrm>
            <a:off x="0" y="957936"/>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BB859A7-3404-652B-3513-9C9C4D760444}"/>
              </a:ext>
            </a:extLst>
          </p:cNvPr>
          <p:cNvCxnSpPr/>
          <p:nvPr/>
        </p:nvCxnSpPr>
        <p:spPr>
          <a:xfrm>
            <a:off x="457200" y="957936"/>
            <a:ext cx="0" cy="494212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1470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8527B9-9094-AFB6-164F-0474A1368F41}"/>
              </a:ext>
            </a:extLst>
          </p:cNvPr>
          <p:cNvPicPr>
            <a:picLocks noChangeAspect="1"/>
          </p:cNvPicPr>
          <p:nvPr/>
        </p:nvPicPr>
        <p:blipFill>
          <a:blip r:embed="rId2"/>
          <a:stretch>
            <a:fillRect/>
          </a:stretch>
        </p:blipFill>
        <p:spPr>
          <a:xfrm>
            <a:off x="457200" y="1101823"/>
            <a:ext cx="11277600" cy="4654354"/>
          </a:xfrm>
          <a:prstGeom prst="rect">
            <a:avLst/>
          </a:prstGeom>
        </p:spPr>
      </p:pic>
      <p:cxnSp>
        <p:nvCxnSpPr>
          <p:cNvPr id="5" name="Straight Connector 4">
            <a:extLst>
              <a:ext uri="{FF2B5EF4-FFF2-40B4-BE49-F238E27FC236}">
                <a16:creationId xmlns:a16="http://schemas.microsoft.com/office/drawing/2014/main" id="{9E252789-EE7F-8475-DC1B-B9FCD9AA6B2A}"/>
              </a:ext>
            </a:extLst>
          </p:cNvPr>
          <p:cNvCxnSpPr/>
          <p:nvPr/>
        </p:nvCxnSpPr>
        <p:spPr>
          <a:xfrm>
            <a:off x="0" y="1101823"/>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28AAA9D2-D9E0-432E-ACB8-619E9BD7EC9F}"/>
              </a:ext>
            </a:extLst>
          </p:cNvPr>
          <p:cNvCxnSpPr/>
          <p:nvPr/>
        </p:nvCxnSpPr>
        <p:spPr>
          <a:xfrm>
            <a:off x="457200" y="1101823"/>
            <a:ext cx="0" cy="465435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63755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3" name="object 3"/>
          <p:cNvSpPr txBox="1"/>
          <p:nvPr/>
        </p:nvSpPr>
        <p:spPr>
          <a:xfrm>
            <a:off x="1143000" y="1219200"/>
            <a:ext cx="10363200" cy="4408258"/>
          </a:xfrm>
          <a:prstGeom prst="rect">
            <a:avLst/>
          </a:prstGeom>
        </p:spPr>
        <p:txBody>
          <a:bodyPr vert="horz" wrap="square" lIns="0" tIns="98425" rIns="0" bIns="0" rtlCol="0">
            <a:spAutoFit/>
          </a:bodyPr>
          <a:lstStyle/>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 Dev and M. M. Fouda – Hybrid CNN–LSTM Model</a:t>
            </a:r>
          </a:p>
          <a:p>
            <a:r>
              <a:rPr lang="en-US" sz="2000" dirty="0">
                <a:latin typeface="Times New Roman" panose="02020603050405020304" pitchFamily="18" charset="0"/>
                <a:cs typeface="Times New Roman" panose="02020603050405020304" pitchFamily="18" charset="0"/>
              </a:rPr>
              <a:t>         Key </a:t>
            </a:r>
            <a:r>
              <a:rPr lang="en-US" sz="2000" dirty="0" err="1">
                <a:latin typeface="Times New Roman" panose="02020603050405020304" pitchFamily="18" charset="0"/>
                <a:cs typeface="Times New Roman" panose="02020603050405020304" pitchFamily="18" charset="0"/>
              </a:rPr>
              <a:t>Finding:Combined</a:t>
            </a:r>
            <a:r>
              <a:rPr lang="en-US" sz="2000" dirty="0">
                <a:latin typeface="Times New Roman" panose="02020603050405020304" pitchFamily="18" charset="0"/>
                <a:cs typeface="Times New Roman" panose="02020603050405020304" pitchFamily="18" charset="0"/>
              </a:rPr>
              <a:t> CNN and LSTM improved malaria image</a:t>
            </a:r>
          </a:p>
          <a:p>
            <a:r>
              <a:rPr lang="en-US" sz="2000" dirty="0">
                <a:latin typeface="Times New Roman" panose="02020603050405020304" pitchFamily="18" charset="0"/>
                <a:cs typeface="Times New Roman" panose="02020603050405020304" pitchFamily="18" charset="0"/>
              </a:rPr>
              <a:t>         classification accuracy.</a:t>
            </a:r>
          </a:p>
          <a:p>
            <a:pPr lvl="1"/>
            <a:r>
              <a:rPr lang="en-US" sz="2000" dirty="0">
                <a:latin typeface="Times New Roman" panose="02020603050405020304" pitchFamily="18" charset="0"/>
                <a:cs typeface="Times New Roman" panose="02020603050405020304" pitchFamily="18" charset="0"/>
              </a:rPr>
              <a:t>         Relation: Inspired our CNN–RNN hybrid design for spatial–temporal</a:t>
            </a:r>
          </a:p>
          <a:p>
            <a:pPr lvl="1"/>
            <a:r>
              <a:rPr lang="en-US" sz="2000" dirty="0">
                <a:latin typeface="Times New Roman" panose="02020603050405020304" pitchFamily="18" charset="0"/>
                <a:cs typeface="Times New Roman" panose="02020603050405020304" pitchFamily="18" charset="0"/>
              </a:rPr>
              <a:t>         feature  learning                        </a:t>
            </a: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Zhao &amp; Wu, 2024 – MAS-Net</a:t>
            </a:r>
          </a:p>
          <a:p>
            <a:r>
              <a:rPr lang="en-US" sz="2000" dirty="0">
                <a:latin typeface="Times New Roman" panose="02020603050405020304" pitchFamily="18" charset="0"/>
                <a:cs typeface="Times New Roman" panose="02020603050405020304" pitchFamily="18" charset="0"/>
              </a:rPr>
              <a:t>         Key Finding: Multi-level attention boosted small-cell detection accuracy.</a:t>
            </a:r>
          </a:p>
          <a:p>
            <a:pPr lvl="1"/>
            <a:r>
              <a:rPr lang="en-US" sz="2000" dirty="0">
                <a:latin typeface="Times New Roman" panose="02020603050405020304" pitchFamily="18" charset="0"/>
                <a:cs typeface="Times New Roman" panose="02020603050405020304" pitchFamily="18" charset="0"/>
              </a:rPr>
              <a:t>         Relation: Guided our use of attention-based preprocessing for tiny</a:t>
            </a:r>
          </a:p>
          <a:p>
            <a:pPr lvl="1"/>
            <a:r>
              <a:rPr lang="en-US" sz="2000" dirty="0">
                <a:latin typeface="Times New Roman" panose="02020603050405020304" pitchFamily="18" charset="0"/>
                <a:cs typeface="Times New Roman" panose="02020603050405020304" pitchFamily="18" charset="0"/>
              </a:rPr>
              <a:t>         parasite </a:t>
            </a:r>
            <a:r>
              <a:rPr lang="en-IN" sz="2000" dirty="0">
                <a:latin typeface="Times New Roman" panose="02020603050405020304" pitchFamily="18" charset="0"/>
                <a:cs typeface="Times New Roman" panose="02020603050405020304" pitchFamily="18" charset="0"/>
              </a:rPr>
              <a:t>features.</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2000" b="1" dirty="0">
                <a:latin typeface="Times New Roman" panose="02020603050405020304" pitchFamily="18" charset="0"/>
                <a:cs typeface="Times New Roman" panose="02020603050405020304" pitchFamily="18" charset="0"/>
              </a:rPr>
              <a:t>Alonso-</a:t>
            </a:r>
            <a:r>
              <a:rPr lang="fr-FR" sz="2000" b="1" dirty="0" err="1">
                <a:latin typeface="Times New Roman" panose="02020603050405020304" pitchFamily="18" charset="0"/>
                <a:cs typeface="Times New Roman" panose="02020603050405020304" pitchFamily="18" charset="0"/>
              </a:rPr>
              <a:t>Ramírez</a:t>
            </a:r>
            <a:r>
              <a:rPr lang="fr-FR" sz="2000" b="1" dirty="0">
                <a:latin typeface="Times New Roman" panose="02020603050405020304" pitchFamily="18" charset="0"/>
                <a:cs typeface="Times New Roman" panose="02020603050405020304" pitchFamily="18" charset="0"/>
              </a:rPr>
              <a:t> et al., 2024 – Compact </a:t>
            </a:r>
            <a:r>
              <a:rPr lang="fr-FR" sz="2000" b="1" dirty="0" err="1">
                <a:latin typeface="Times New Roman" panose="02020603050405020304" pitchFamily="18" charset="0"/>
                <a:cs typeface="Times New Roman" panose="02020603050405020304" pitchFamily="18" charset="0"/>
              </a:rPr>
              <a:t>CNNs</a:t>
            </a:r>
            <a:endParaRPr lang="fr-FR"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Key Finding :Lightweight CNNs achieved 97%+ accuracy with fast edge</a:t>
            </a:r>
          </a:p>
          <a:p>
            <a:r>
              <a:rPr lang="en-US" sz="2000" dirty="0">
                <a:latin typeface="Times New Roman" panose="02020603050405020304" pitchFamily="18" charset="0"/>
                <a:cs typeface="Times New Roman" panose="02020603050405020304" pitchFamily="18" charset="0"/>
              </a:rPr>
              <a:t>         Inference.</a:t>
            </a:r>
          </a:p>
          <a:p>
            <a:pPr lvl="1"/>
            <a:r>
              <a:rPr lang="en-US" sz="2000" dirty="0">
                <a:latin typeface="Times New Roman" panose="02020603050405020304" pitchFamily="18" charset="0"/>
                <a:cs typeface="Times New Roman" panose="02020603050405020304" pitchFamily="18" charset="0"/>
              </a:rPr>
              <a:t>         Relation: Motivated efficient backbone use (MobileNetV2) for low-  </a:t>
            </a:r>
          </a:p>
          <a:p>
            <a:pPr lvl="1"/>
            <a:r>
              <a:rPr lang="en-US" sz="2000" dirty="0">
                <a:latin typeface="Times New Roman" panose="02020603050405020304" pitchFamily="18" charset="0"/>
                <a:cs typeface="Times New Roman" panose="02020603050405020304" pitchFamily="18" charset="0"/>
              </a:rPr>
              <a:t>         resource devices.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62B36E-C371-B065-E532-6B9ED2E13BFA}"/>
              </a:ext>
            </a:extLst>
          </p:cNvPr>
          <p:cNvSpPr txBox="1"/>
          <p:nvPr/>
        </p:nvSpPr>
        <p:spPr>
          <a:xfrm>
            <a:off x="1143000" y="914400"/>
            <a:ext cx="10439400"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Chaudhry et al., 2024 – Lightweight Stage Classifier</a:t>
            </a:r>
          </a:p>
          <a:p>
            <a:pPr algn="just"/>
            <a:r>
              <a:rPr lang="en-US" sz="2000" dirty="0">
                <a:latin typeface="Times New Roman" panose="02020603050405020304" pitchFamily="18" charset="0"/>
                <a:cs typeface="Times New Roman" panose="02020603050405020304" pitchFamily="18" charset="0"/>
              </a:rPr>
              <a:t>       Key Finding : Compact CNN classified parasite types and stages with high</a:t>
            </a:r>
          </a:p>
          <a:p>
            <a:pPr algn="just"/>
            <a:r>
              <a:rPr lang="en-US" sz="2000" dirty="0">
                <a:latin typeface="Times New Roman" panose="02020603050405020304" pitchFamily="18" charset="0"/>
                <a:cs typeface="Times New Roman" panose="02020603050405020304" pitchFamily="18" charset="0"/>
              </a:rPr>
              <a:t>       accuracy.</a:t>
            </a:r>
          </a:p>
          <a:p>
            <a:pPr algn="just"/>
            <a:r>
              <a:rPr lang="en-US" sz="2000" dirty="0">
                <a:latin typeface="Times New Roman" panose="02020603050405020304" pitchFamily="18" charset="0"/>
                <a:cs typeface="Times New Roman" panose="02020603050405020304" pitchFamily="18" charset="0"/>
              </a:rPr>
              <a:t>       Relation: Inspired stage-level analysis and lightweight model optimization.</a:t>
            </a:r>
            <a:r>
              <a:rPr lang="en-US" sz="20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da-DK" sz="2000" b="1" dirty="0">
                <a:latin typeface="Times New Roman" panose="02020603050405020304" pitchFamily="18" charset="0"/>
                <a:cs typeface="Times New Roman" panose="02020603050405020304" pitchFamily="18" charset="0"/>
              </a:rPr>
              <a:t>Asif et al., 2024 – DBEL Framework</a:t>
            </a: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Key Finding: Boosted CNN with DWT and ensemble learning improved</a:t>
            </a:r>
          </a:p>
          <a:p>
            <a:pPr algn="just"/>
            <a:r>
              <a:rPr lang="en-US" sz="2000" dirty="0">
                <a:latin typeface="Times New Roman" panose="02020603050405020304" pitchFamily="18" charset="0"/>
                <a:cs typeface="Times New Roman" panose="02020603050405020304" pitchFamily="18" charset="0"/>
              </a:rPr>
              <a:t>       sensitivity.</a:t>
            </a:r>
          </a:p>
          <a:p>
            <a:pPr lvl="1" algn="just"/>
            <a:r>
              <a:rPr lang="en-US" sz="2000" dirty="0">
                <a:latin typeface="Times New Roman" panose="02020603050405020304" pitchFamily="18" charset="0"/>
                <a:cs typeface="Times New Roman" panose="02020603050405020304" pitchFamily="18" charset="0"/>
              </a:rPr>
              <a:t>       Relation: Encouraged feature enhancement and ensemble-based</a:t>
            </a:r>
          </a:p>
          <a:p>
            <a:pPr lvl="1" algn="just"/>
            <a:r>
              <a:rPr lang="en-US" sz="2000" dirty="0">
                <a:latin typeface="Times New Roman" panose="02020603050405020304" pitchFamily="18" charset="0"/>
                <a:cs typeface="Times New Roman" panose="02020603050405020304" pitchFamily="18" charset="0"/>
              </a:rPr>
              <a:t>       robustness.</a:t>
            </a:r>
          </a:p>
          <a:p>
            <a:pPr marL="285750" lvl="1" indent="-285750" algn="just">
              <a:buFont typeface="Arial" panose="020B0604020202020204" pitchFamily="34" charset="0"/>
              <a:buChar char="•"/>
            </a:pPr>
            <a:r>
              <a:rPr lang="da-DK" sz="2000" b="1" dirty="0">
                <a:latin typeface="Times New Roman" panose="02020603050405020304" pitchFamily="18" charset="0"/>
                <a:cs typeface="Times New Roman" panose="02020603050405020304" pitchFamily="18" charset="0"/>
              </a:rPr>
              <a:t>Sukumarran et al., 2024 – Optimized YOLOv4</a:t>
            </a:r>
          </a:p>
          <a:p>
            <a:pPr lvl="1" algn="just"/>
            <a:r>
              <a:rPr lang="da-DK"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Key Finding: Pruned YOLOv4 achieved better generalization and smaller</a:t>
            </a:r>
          </a:p>
          <a:p>
            <a:pPr lvl="1" algn="just"/>
            <a:r>
              <a:rPr lang="en-US" sz="2000" dirty="0">
                <a:latin typeface="Times New Roman" panose="02020603050405020304" pitchFamily="18" charset="0"/>
                <a:cs typeface="Times New Roman" panose="02020603050405020304" pitchFamily="18" charset="0"/>
              </a:rPr>
              <a:t>       model size.</a:t>
            </a:r>
          </a:p>
          <a:p>
            <a:pPr lvl="1" algn="just"/>
            <a:r>
              <a:rPr lang="en-IN"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Relation: Suggested pruning for efficient detection in hybrid malaria</a:t>
            </a:r>
          </a:p>
          <a:p>
            <a:pPr lvl="1" algn="just"/>
            <a:r>
              <a:rPr lang="en-US" sz="2000" dirty="0">
                <a:latin typeface="Times New Roman" panose="02020603050405020304" pitchFamily="18" charset="0"/>
                <a:cs typeface="Times New Roman" panose="02020603050405020304" pitchFamily="18" charset="0"/>
              </a:rPr>
              <a:t>       systems.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07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sp>
        <p:nvSpPr>
          <p:cNvPr id="11" name="TextBox 10">
            <a:extLst>
              <a:ext uri="{FF2B5EF4-FFF2-40B4-BE49-F238E27FC236}">
                <a16:creationId xmlns:a16="http://schemas.microsoft.com/office/drawing/2014/main" id="{967B7073-FE33-FCF7-5534-3CC60CE76A40}"/>
              </a:ext>
            </a:extLst>
          </p:cNvPr>
          <p:cNvSpPr txBox="1"/>
          <p:nvPr/>
        </p:nvSpPr>
        <p:spPr>
          <a:xfrm>
            <a:off x="1219454" y="1483468"/>
            <a:ext cx="9829546" cy="3785652"/>
          </a:xfrm>
          <a:prstGeom prst="rect">
            <a:avLst/>
          </a:prstGeom>
          <a:noFill/>
        </p:spPr>
        <p:txBody>
          <a:bodyPr wrap="square">
            <a:spAutoFit/>
          </a:bodyPr>
          <a:lstStyle/>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Dataset Limitation</a:t>
            </a:r>
            <a:r>
              <a:rPr lang="en-US" sz="2000" dirty="0">
                <a:latin typeface="Times New Roman" panose="02020603050405020304" pitchFamily="18" charset="0"/>
                <a:cs typeface="Times New Roman" panose="02020603050405020304" pitchFamily="18" charset="0"/>
              </a:rPr>
              <a:t> – Most available datasets lack diversity and contain high-quality lab images, not real-world variations.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Poor Generalization</a:t>
            </a:r>
            <a:r>
              <a:rPr lang="en-US" sz="2000" dirty="0">
                <a:latin typeface="Times New Roman" panose="02020603050405020304" pitchFamily="18" charset="0"/>
                <a:cs typeface="Times New Roman" panose="02020603050405020304" pitchFamily="18" charset="0"/>
              </a:rPr>
              <a:t> – Models trained on specific microscopes or labs perform poorly on unseen data from different sources.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Lack of Explainability</a:t>
            </a:r>
            <a:r>
              <a:rPr lang="en-US" sz="2000" dirty="0">
                <a:latin typeface="Times New Roman" panose="02020603050405020304" pitchFamily="18" charset="0"/>
                <a:cs typeface="Times New Roman" panose="02020603050405020304" pitchFamily="18" charset="0"/>
              </a:rPr>
              <a:t> – CNN–RNN models act as black boxes with limited interpretability for medical professionals.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Edge Deployment Challenges</a:t>
            </a:r>
            <a:r>
              <a:rPr lang="en-US" sz="2000" dirty="0">
                <a:latin typeface="Times New Roman" panose="02020603050405020304" pitchFamily="18" charset="0"/>
                <a:cs typeface="Times New Roman" panose="02020603050405020304" pitchFamily="18" charset="0"/>
              </a:rPr>
              <a:t> – Few studies optimize models for real-time diagnosis on low-power or mobile devices.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Limited Stage Classification</a:t>
            </a:r>
            <a:r>
              <a:rPr lang="en-US" sz="2000" dirty="0">
                <a:latin typeface="Times New Roman" panose="02020603050405020304" pitchFamily="18" charset="0"/>
                <a:cs typeface="Times New Roman" panose="02020603050405020304" pitchFamily="18" charset="0"/>
              </a:rPr>
              <a:t> – Most models detect infection presence only, not parasite life stages.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Quality and Imbalance</a:t>
            </a:r>
            <a:r>
              <a:rPr lang="en-US" sz="2000" dirty="0">
                <a:latin typeface="Times New Roman" panose="02020603050405020304" pitchFamily="18" charset="0"/>
                <a:cs typeface="Times New Roman" panose="02020603050405020304" pitchFamily="18" charset="0"/>
              </a:rPr>
              <a:t> – Label noise and unequal class representation reduce model robustness and reliability.</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11</a:t>
            </a:fld>
            <a:endParaRPr spc="-25" dirty="0"/>
          </a:p>
        </p:txBody>
      </p:sp>
      <p:sp>
        <p:nvSpPr>
          <p:cNvPr id="12" name="TextBox 11">
            <a:extLst>
              <a:ext uri="{FF2B5EF4-FFF2-40B4-BE49-F238E27FC236}">
                <a16:creationId xmlns:a16="http://schemas.microsoft.com/office/drawing/2014/main" id="{9476A0E6-989C-1EBF-66F7-2FD261FFF84A}"/>
              </a:ext>
            </a:extLst>
          </p:cNvPr>
          <p:cNvSpPr txBox="1"/>
          <p:nvPr/>
        </p:nvSpPr>
        <p:spPr>
          <a:xfrm rot="10800000" flipH="1" flipV="1">
            <a:off x="1045463" y="1887439"/>
            <a:ext cx="9994329" cy="2554545"/>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Malaria remains a major public health issue in developing countries, causing millions of infections and thousands of deaths annually. Traditional diagnosis through manual microscopic examination is slow, labor-intensive, and depends heavily on expert skill, often leading to misdiagnosis in areas with limited resources. With advances in Artificial Intelligence and Deep Learning, automated image-based detection offers promise, but challenges like poor image quality and staining variability persist. Hence, there is a critical need for a robust automated malaria detection system that ensures accurate, fast, and reliable diagnosis, especially in resource-limited settings.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p:cNvSpPr txBox="1"/>
          <p:nvPr/>
        </p:nvSpPr>
        <p:spPr>
          <a:xfrm>
            <a:off x="917575" y="1730872"/>
            <a:ext cx="10893425" cy="2459648"/>
          </a:xfrm>
          <a:prstGeom prst="rect">
            <a:avLst/>
          </a:prstGeom>
        </p:spPr>
        <p:txBody>
          <a:bodyPr vert="horz" wrap="square" lIns="0" tIns="99060" rIns="0" bIns="0" rtlCol="0">
            <a:spAutoFit/>
          </a:bodyPr>
          <a:lstStyle/>
          <a:p>
            <a:pPr marL="355600" indent="-3429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Develop an </a:t>
            </a:r>
            <a:r>
              <a:rPr lang="en-US" sz="2000" b="1" dirty="0">
                <a:latin typeface="Times New Roman" panose="02020603050405020304" pitchFamily="18" charset="0"/>
                <a:cs typeface="Times New Roman" panose="02020603050405020304" pitchFamily="18" charset="0"/>
              </a:rPr>
              <a:t>automated malaria detection system</a:t>
            </a:r>
            <a:r>
              <a:rPr lang="en-US" sz="2000" dirty="0">
                <a:latin typeface="Times New Roman" panose="02020603050405020304" pitchFamily="18" charset="0"/>
                <a:cs typeface="Times New Roman" panose="02020603050405020304" pitchFamily="18" charset="0"/>
              </a:rPr>
              <a:t> using deep learning.</a:t>
            </a:r>
          </a:p>
          <a:p>
            <a:pPr marL="355600" indent="-342900" algn="just">
              <a:lnSpc>
                <a:spcPct val="100000"/>
              </a:lnSpc>
              <a:spcBef>
                <a:spcPts val="780"/>
              </a:spcBef>
              <a:buFont typeface="Arial" panose="020B0604020202020204" pitchFamily="34" charset="0"/>
              <a:buChar char="•"/>
              <a:tabLst>
                <a:tab pos="527050" algn="l"/>
              </a:tabLst>
            </a:pPr>
            <a:r>
              <a:rPr lang="en-IN" sz="2000" dirty="0">
                <a:latin typeface="Times New Roman" panose="02020603050405020304" pitchFamily="18" charset="0"/>
                <a:cs typeface="Times New Roman" panose="02020603050405020304" pitchFamily="18" charset="0"/>
              </a:rPr>
              <a:t>Utilize </a:t>
            </a:r>
            <a:r>
              <a:rPr lang="en-IN" sz="2000" b="1" dirty="0">
                <a:latin typeface="Times New Roman" panose="02020603050405020304" pitchFamily="18" charset="0"/>
                <a:cs typeface="Times New Roman" panose="02020603050405020304" pitchFamily="18" charset="0"/>
              </a:rPr>
              <a:t>pretrained CNN models</a:t>
            </a:r>
            <a:r>
              <a:rPr lang="en-IN" sz="2000" dirty="0">
                <a:latin typeface="Times New Roman" panose="02020603050405020304" pitchFamily="18" charset="0"/>
                <a:cs typeface="Times New Roman" panose="02020603050405020304" pitchFamily="18" charset="0"/>
              </a:rPr>
              <a:t> (DenseNet121, MobileNetV2) for feature extraction.</a:t>
            </a:r>
          </a:p>
          <a:p>
            <a:pPr marL="355600" indent="-3429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Combine CNN with </a:t>
            </a:r>
            <a:r>
              <a:rPr lang="en-US" sz="2000" b="1" dirty="0">
                <a:latin typeface="Times New Roman" panose="02020603050405020304" pitchFamily="18" charset="0"/>
                <a:cs typeface="Times New Roman" panose="02020603050405020304" pitchFamily="18" charset="0"/>
              </a:rPr>
              <a:t>RNN architectures</a:t>
            </a:r>
            <a:r>
              <a:rPr lang="en-US" sz="2000" dirty="0">
                <a:latin typeface="Times New Roman" panose="02020603050405020304" pitchFamily="18" charset="0"/>
                <a:cs typeface="Times New Roman" panose="02020603050405020304" pitchFamily="18" charset="0"/>
              </a:rPr>
              <a:t> (LSTM, GRU,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for classification.</a:t>
            </a:r>
          </a:p>
          <a:p>
            <a:pPr marL="355600" indent="-3429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Achieve </a:t>
            </a:r>
            <a:r>
              <a:rPr lang="en-US" sz="2000" b="1" dirty="0">
                <a:latin typeface="Times New Roman" panose="02020603050405020304" pitchFamily="18" charset="0"/>
                <a:cs typeface="Times New Roman" panose="02020603050405020304" pitchFamily="18" charset="0"/>
              </a:rPr>
              <a:t>high accuracy and robustness</a:t>
            </a:r>
            <a:r>
              <a:rPr lang="en-US" sz="2000" dirty="0">
                <a:latin typeface="Times New Roman" panose="02020603050405020304" pitchFamily="18" charset="0"/>
                <a:cs typeface="Times New Roman" panose="02020603050405020304" pitchFamily="18" charset="0"/>
              </a:rPr>
              <a:t> in malaria detection.</a:t>
            </a:r>
          </a:p>
          <a:p>
            <a:pPr marL="355600" indent="-3429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Evaluate model performance using </a:t>
            </a:r>
            <a:r>
              <a:rPr lang="en-US" sz="2000" b="1" dirty="0">
                <a:latin typeface="Times New Roman" panose="02020603050405020304" pitchFamily="18" charset="0"/>
                <a:cs typeface="Times New Roman" panose="02020603050405020304" pitchFamily="18" charset="0"/>
              </a:rPr>
              <a:t>accuracy, precision, recall, and F1-score</a:t>
            </a:r>
            <a:r>
              <a:rPr lang="en-US" sz="2000" dirty="0">
                <a:latin typeface="Times New Roman" panose="02020603050405020304" pitchFamily="18" charset="0"/>
                <a:cs typeface="Times New Roman" panose="02020603050405020304" pitchFamily="18" charset="0"/>
              </a:rPr>
              <a:t>.</a:t>
            </a:r>
          </a:p>
          <a:p>
            <a:pPr marL="355600" indent="-3429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Demonstrate feasibility for </a:t>
            </a:r>
            <a:r>
              <a:rPr lang="en-US" sz="2000" b="1" dirty="0">
                <a:latin typeface="Times New Roman" panose="02020603050405020304" pitchFamily="18" charset="0"/>
                <a:cs typeface="Times New Roman" panose="02020603050405020304" pitchFamily="18" charset="0"/>
              </a:rPr>
              <a:t>real-world screening applications</a:t>
            </a:r>
            <a:r>
              <a:rPr 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910506"/>
          </a:xfrm>
          <a:prstGeom prst="rect">
            <a:avLst/>
          </a:prstGeom>
        </p:spPr>
        <p:txBody>
          <a:bodyPr vert="horz" wrap="square" lIns="0" tIns="299720" rIns="0" bIns="0" rtlCol="0" anchor="t">
            <a:spAutoFit/>
          </a:bodyPr>
          <a:lstStyle/>
          <a:p>
            <a:pPr marL="360045">
              <a:spcBef>
                <a:spcPts val="130"/>
              </a:spcBef>
            </a:pPr>
            <a:r>
              <a:rPr sz="3950" spc="70" dirty="0"/>
              <a:t> </a:t>
            </a:r>
            <a:r>
              <a:rPr sz="3950" dirty="0"/>
              <a:t>FLOW</a:t>
            </a:r>
            <a:r>
              <a:rPr lang="en-US" sz="3950" spc="-60" dirty="0"/>
              <a:t> CHART</a:t>
            </a:r>
            <a:endParaRPr lang="en-US" sz="3950" spc="-1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pic>
        <p:nvPicPr>
          <p:cNvPr id="9" name="Picture 8">
            <a:extLst>
              <a:ext uri="{FF2B5EF4-FFF2-40B4-BE49-F238E27FC236}">
                <a16:creationId xmlns:a16="http://schemas.microsoft.com/office/drawing/2014/main" id="{6D6BFA7E-39EC-CD6D-97AF-1AA343993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1685924"/>
            <a:ext cx="5714999" cy="35718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58184-6888-D359-49C8-0EC27C91EFF1}"/>
              </a:ext>
            </a:extLst>
          </p:cNvPr>
          <p:cNvSpPr>
            <a:spLocks noGrp="1"/>
          </p:cNvSpPr>
          <p:nvPr>
            <p:ph type="title"/>
          </p:nvPr>
        </p:nvSpPr>
        <p:spPr>
          <a:xfrm>
            <a:off x="916067" y="801048"/>
            <a:ext cx="10101072" cy="430887"/>
          </a:xfrm>
        </p:spPr>
        <p:txBody>
          <a:bodyPr wrap="square" lIns="0" tIns="0" rIns="0" bIns="0" anchor="t">
            <a:spAutoFit/>
          </a:bodyPr>
          <a:lstStyle/>
          <a:p>
            <a:r>
              <a:rPr lang="en-US" sz="2800" dirty="0"/>
              <a:t>Flowchart Description</a:t>
            </a:r>
            <a:endParaRPr lang="en-US"/>
          </a:p>
        </p:txBody>
      </p:sp>
      <p:sp>
        <p:nvSpPr>
          <p:cNvPr id="3" name="Text Placeholder 2">
            <a:extLst>
              <a:ext uri="{FF2B5EF4-FFF2-40B4-BE49-F238E27FC236}">
                <a16:creationId xmlns:a16="http://schemas.microsoft.com/office/drawing/2014/main" id="{FE84A08B-B210-1774-6406-D2D3092C9154}"/>
              </a:ext>
            </a:extLst>
          </p:cNvPr>
          <p:cNvSpPr>
            <a:spLocks noGrp="1"/>
          </p:cNvSpPr>
          <p:nvPr>
            <p:ph type="body" idx="1"/>
          </p:nvPr>
        </p:nvSpPr>
        <p:spPr>
          <a:xfrm>
            <a:off x="917575" y="1716495"/>
            <a:ext cx="9644836" cy="2462213"/>
          </a:xfrm>
        </p:spPr>
        <p:txBody>
          <a:bodyPr wrap="square" lIns="0" tIns="0" rIns="0" bIns="0" anchor="t">
            <a:spAutoFit/>
          </a:bodyPr>
          <a:lstStyle/>
          <a:p>
            <a:pPr algn="just"/>
            <a:r>
              <a:rPr lang="en-US" sz="2000" dirty="0">
                <a:ea typeface="Calibri"/>
              </a:rPr>
              <a:t>The flowchart represents the overall workflow of the proposed automated malaria detection system. It begins with microscopic blood smear images, which undergo image augmentation to enhance the dataset and improve model robustness. The augmented images are then processed through two main classification approaches: RNN-based and CNN-based models. The CNN-based model focuses on extracting spatial features, while the RNN-based model captures sequential patterns in the extracted features. These two approaches are then integrated into a hybrid model that combines their strengths. Finally, the hybrid model performs binary classification to determine whether a given cell image is Parasitized or Uninfected.</a:t>
            </a:r>
            <a:endParaRPr lang="en-US" dirty="0"/>
          </a:p>
        </p:txBody>
      </p:sp>
    </p:spTree>
    <p:extLst>
      <p:ext uri="{BB962C8B-B14F-4D97-AF65-F5344CB8AC3E}">
        <p14:creationId xmlns:p14="http://schemas.microsoft.com/office/powerpoint/2010/main" val="1887389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sp>
        <p:nvSpPr>
          <p:cNvPr id="3" name="object 3"/>
          <p:cNvSpPr txBox="1"/>
          <p:nvPr/>
        </p:nvSpPr>
        <p:spPr>
          <a:xfrm>
            <a:off x="1045464" y="1483468"/>
            <a:ext cx="10101072" cy="3167342"/>
          </a:xfrm>
          <a:prstGeom prst="rect">
            <a:avLst/>
          </a:prstGeom>
        </p:spPr>
        <p:txBody>
          <a:bodyPr vert="horz" wrap="square" lIns="0" tIns="60960" rIns="0" bIns="0" rtlCol="0">
            <a:spAutoFit/>
          </a:bodyPr>
          <a:lstStyle/>
          <a:p>
            <a:pPr marL="12065" marR="290195" algn="just">
              <a:lnSpc>
                <a:spcPts val="3000"/>
              </a:lnSpc>
              <a:spcBef>
                <a:spcPts val="480"/>
              </a:spcBef>
              <a:tabLst>
                <a:tab pos="241300" algn="l"/>
              </a:tabLst>
            </a:pPr>
            <a:r>
              <a:rPr lang="en-IN" sz="2000" b="1" dirty="0">
                <a:latin typeface="Times New Roman"/>
                <a:cs typeface="Times New Roman"/>
              </a:rPr>
              <a:t>Methodology Overview</a:t>
            </a:r>
          </a:p>
          <a:p>
            <a:pPr marL="12065" marR="290195" algn="just">
              <a:lnSpc>
                <a:spcPts val="3000"/>
              </a:lnSpc>
              <a:spcBef>
                <a:spcPts val="480"/>
              </a:spcBef>
              <a:tabLst>
                <a:tab pos="241300" algn="l"/>
              </a:tabLst>
            </a:pPr>
            <a:r>
              <a:rPr lang="en-IN" sz="2000" dirty="0">
                <a:latin typeface="Times New Roman"/>
                <a:cs typeface="Times New Roman"/>
              </a:rPr>
              <a:t>The system automates malaria detection from microscopic blood smear </a:t>
            </a:r>
            <a:r>
              <a:rPr lang="en-IN" sz="2000" dirty="0" err="1">
                <a:latin typeface="Times New Roman"/>
                <a:cs typeface="Times New Roman"/>
              </a:rPr>
              <a:t>images.Workflow</a:t>
            </a:r>
            <a:r>
              <a:rPr lang="en-IN" sz="2000" dirty="0">
                <a:latin typeface="Times New Roman"/>
                <a:cs typeface="Times New Roman"/>
              </a:rPr>
              <a:t> includes image collection, preprocessing, feature extraction, hybrid model construction, and </a:t>
            </a:r>
            <a:r>
              <a:rPr lang="en-IN" sz="2000" dirty="0" err="1">
                <a:latin typeface="Times New Roman"/>
                <a:cs typeface="Times New Roman"/>
              </a:rPr>
              <a:t>classification.Preprocessing</a:t>
            </a:r>
            <a:r>
              <a:rPr lang="en-IN" sz="2000" dirty="0">
                <a:latin typeface="Times New Roman"/>
                <a:cs typeface="Times New Roman"/>
              </a:rPr>
              <a:t> enhances image quality before feature </a:t>
            </a:r>
            <a:r>
              <a:rPr lang="en-IN" sz="2000" dirty="0" err="1">
                <a:latin typeface="Times New Roman"/>
                <a:cs typeface="Times New Roman"/>
              </a:rPr>
              <a:t>learning.CNNs</a:t>
            </a:r>
            <a:r>
              <a:rPr lang="en-IN" sz="2000" dirty="0">
                <a:latin typeface="Times New Roman"/>
                <a:cs typeface="Times New Roman"/>
              </a:rPr>
              <a:t> (MobileNetV2, DenseNet121) extract spatial </a:t>
            </a:r>
            <a:r>
              <a:rPr lang="en-IN" sz="2000" dirty="0" err="1">
                <a:latin typeface="Times New Roman"/>
                <a:cs typeface="Times New Roman"/>
              </a:rPr>
              <a:t>features.RNNs</a:t>
            </a:r>
            <a:r>
              <a:rPr lang="en-IN" sz="2000" dirty="0">
                <a:latin typeface="Times New Roman"/>
                <a:cs typeface="Times New Roman"/>
              </a:rPr>
              <a:t> (LSTM, GRU, </a:t>
            </a:r>
            <a:r>
              <a:rPr lang="en-IN" sz="2000" dirty="0" err="1">
                <a:latin typeface="Times New Roman"/>
                <a:cs typeface="Times New Roman"/>
              </a:rPr>
              <a:t>BiLSTM</a:t>
            </a:r>
            <a:r>
              <a:rPr lang="en-IN" sz="2000" dirty="0">
                <a:latin typeface="Times New Roman"/>
                <a:cs typeface="Times New Roman"/>
              </a:rPr>
              <a:t>) capture sequential </a:t>
            </a:r>
            <a:r>
              <a:rPr lang="en-IN" sz="2000" dirty="0" err="1">
                <a:latin typeface="Times New Roman"/>
                <a:cs typeface="Times New Roman"/>
              </a:rPr>
              <a:t>patterns.Hybrid</a:t>
            </a:r>
            <a:r>
              <a:rPr lang="en-IN" sz="2000" dirty="0">
                <a:latin typeface="Times New Roman"/>
                <a:cs typeface="Times New Roman"/>
              </a:rPr>
              <a:t> models like MobileNetV2–LSTM–</a:t>
            </a:r>
            <a:r>
              <a:rPr lang="en-IN" sz="2000" dirty="0" err="1">
                <a:latin typeface="Times New Roman"/>
                <a:cs typeface="Times New Roman"/>
              </a:rPr>
              <a:t>BiLSTM</a:t>
            </a:r>
            <a:r>
              <a:rPr lang="en-IN" sz="2000" dirty="0">
                <a:latin typeface="Times New Roman"/>
                <a:cs typeface="Times New Roman"/>
              </a:rPr>
              <a:t> and DenseNet121–GRU–LSTM integrate both spatial and temporal </a:t>
            </a:r>
            <a:r>
              <a:rPr lang="en-IN" sz="2000" dirty="0" err="1">
                <a:latin typeface="Times New Roman"/>
                <a:cs typeface="Times New Roman"/>
              </a:rPr>
              <a:t>information.Final</a:t>
            </a:r>
            <a:r>
              <a:rPr lang="en-IN" sz="2000" dirty="0">
                <a:latin typeface="Times New Roman"/>
                <a:cs typeface="Times New Roman"/>
              </a:rPr>
              <a:t> binary classifier categorizes cells as Parasitized or Uninfected.</a:t>
            </a:r>
            <a:endParaRPr sz="20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4709B3-CA8C-4302-885C-66E77558107F}"/>
              </a:ext>
            </a:extLst>
          </p:cNvPr>
          <p:cNvSpPr txBox="1"/>
          <p:nvPr/>
        </p:nvSpPr>
        <p:spPr>
          <a:xfrm>
            <a:off x="1066800" y="1066800"/>
            <a:ext cx="10020300" cy="427809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Phase A – Deep Feature Extraction</a:t>
            </a:r>
          </a:p>
          <a:p>
            <a:pPr algn="just"/>
            <a:r>
              <a:rPr lang="en-IN" sz="2000" dirty="0">
                <a:latin typeface="Times New Roman" panose="02020603050405020304" pitchFamily="18" charset="0"/>
                <a:cs typeface="Times New Roman" panose="02020603050405020304" pitchFamily="18" charset="0"/>
              </a:rPr>
              <a:t>Pretrained CNNs: MobileNetV2 and DenseNet121 (ImageNet weights).Classification heads removed; base layers frozen for stable feature learning.GlobalAveragePooling2D used to convert outputs into fixed-length feature </a:t>
            </a:r>
            <a:r>
              <a:rPr lang="en-IN" sz="2000" dirty="0" err="1">
                <a:latin typeface="Times New Roman" panose="02020603050405020304" pitchFamily="18" charset="0"/>
                <a:cs typeface="Times New Roman" panose="02020603050405020304" pitchFamily="18" charset="0"/>
              </a:rPr>
              <a:t>vectors.Extracted</a:t>
            </a:r>
            <a:r>
              <a:rPr lang="en-IN" sz="2000" dirty="0">
                <a:latin typeface="Times New Roman" panose="02020603050405020304" pitchFamily="18" charset="0"/>
                <a:cs typeface="Times New Roman" panose="02020603050405020304" pitchFamily="18" charset="0"/>
              </a:rPr>
              <a:t> spatial features encoded unique cellular </a:t>
            </a:r>
            <a:r>
              <a:rPr lang="en-IN" sz="2000" dirty="0" err="1">
                <a:latin typeface="Times New Roman" panose="02020603050405020304" pitchFamily="18" charset="0"/>
                <a:cs typeface="Times New Roman" panose="02020603050405020304" pitchFamily="18" charset="0"/>
              </a:rPr>
              <a:t>characteristics.Features</a:t>
            </a:r>
            <a:r>
              <a:rPr lang="en-IN" sz="2000" dirty="0">
                <a:latin typeface="Times New Roman" panose="02020603050405020304" pitchFamily="18" charset="0"/>
                <a:cs typeface="Times New Roman" panose="02020603050405020304" pitchFamily="18" charset="0"/>
              </a:rPr>
              <a:t> stored in NumPy format for RNN-based </a:t>
            </a:r>
            <a:r>
              <a:rPr lang="en-IN" sz="2000" dirty="0" err="1">
                <a:latin typeface="Times New Roman" panose="02020603050405020304" pitchFamily="18" charset="0"/>
                <a:cs typeface="Times New Roman" panose="02020603050405020304" pitchFamily="18" charset="0"/>
              </a:rPr>
              <a:t>classification.Ensures</a:t>
            </a:r>
            <a:r>
              <a:rPr lang="en-IN" sz="2000" dirty="0">
                <a:latin typeface="Times New Roman" panose="02020603050405020304" pitchFamily="18" charset="0"/>
                <a:cs typeface="Times New Roman" panose="02020603050405020304" pitchFamily="18" charset="0"/>
              </a:rPr>
              <a:t> robust feature extraction while maintaining computational efficiency.</a:t>
            </a: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Phase B – RNN-Based Classification</a:t>
            </a:r>
          </a:p>
          <a:p>
            <a:pPr algn="just"/>
            <a:r>
              <a:rPr lang="en-IN" sz="2000" dirty="0">
                <a:latin typeface="Times New Roman" panose="02020603050405020304" pitchFamily="18" charset="0"/>
                <a:cs typeface="Times New Roman" panose="02020603050405020304" pitchFamily="18" charset="0"/>
              </a:rPr>
              <a:t>CNN-extracted features fed into RNN classifiers to model temporal </a:t>
            </a:r>
            <a:r>
              <a:rPr lang="en-IN" sz="2000" dirty="0" err="1">
                <a:latin typeface="Times New Roman" panose="02020603050405020304" pitchFamily="18" charset="0"/>
                <a:cs typeface="Times New Roman" panose="02020603050405020304" pitchFamily="18" charset="0"/>
              </a:rPr>
              <a:t>dependencies.Input</a:t>
            </a:r>
            <a:r>
              <a:rPr lang="en-IN" sz="2000" dirty="0">
                <a:latin typeface="Times New Roman" panose="02020603050405020304" pitchFamily="18" charset="0"/>
                <a:cs typeface="Times New Roman" panose="02020603050405020304" pitchFamily="18" charset="0"/>
              </a:rPr>
              <a:t> reshaped into RNN-compatible format: (samples, timesteps, features) → (1, 1024).RNN architectures </a:t>
            </a:r>
            <a:r>
              <a:rPr lang="en-IN" sz="2000" dirty="0" err="1">
                <a:latin typeface="Times New Roman" panose="02020603050405020304" pitchFamily="18" charset="0"/>
                <a:cs typeface="Times New Roman" panose="02020603050405020304" pitchFamily="18" charset="0"/>
              </a:rPr>
              <a:t>tested:LSTM</a:t>
            </a:r>
            <a:r>
              <a:rPr lang="en-IN" sz="2000" dirty="0">
                <a:latin typeface="Times New Roman" panose="02020603050405020304" pitchFamily="18" charset="0"/>
                <a:cs typeface="Times New Roman" panose="02020603050405020304" pitchFamily="18" charset="0"/>
              </a:rPr>
              <a:t> → LSTMGRU → </a:t>
            </a:r>
            <a:r>
              <a:rPr lang="en-IN" sz="2000" dirty="0" err="1">
                <a:latin typeface="Times New Roman" panose="02020603050405020304" pitchFamily="18" charset="0"/>
                <a:cs typeface="Times New Roman" panose="02020603050405020304" pitchFamily="18" charset="0"/>
              </a:rPr>
              <a:t>GRUBiLSTM</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BiLSTMRegularization</a:t>
            </a:r>
            <a:r>
              <a:rPr lang="en-IN" sz="2000" dirty="0">
                <a:latin typeface="Times New Roman" panose="02020603050405020304" pitchFamily="18" charset="0"/>
                <a:cs typeface="Times New Roman" panose="02020603050405020304" pitchFamily="18" charset="0"/>
              </a:rPr>
              <a:t>: Dropout layers to prevent </a:t>
            </a:r>
            <a:r>
              <a:rPr lang="en-IN" sz="2000" dirty="0" err="1">
                <a:latin typeface="Times New Roman" panose="02020603050405020304" pitchFamily="18" charset="0"/>
                <a:cs typeface="Times New Roman" panose="02020603050405020304" pitchFamily="18" charset="0"/>
              </a:rPr>
              <a:t>overfitting.Output</a:t>
            </a:r>
            <a:r>
              <a:rPr lang="en-IN" sz="2000" dirty="0">
                <a:latin typeface="Times New Roman" panose="02020603050405020304" pitchFamily="18" charset="0"/>
                <a:cs typeface="Times New Roman" panose="02020603050405020304" pitchFamily="18" charset="0"/>
              </a:rPr>
              <a:t>: Dense + Sigmoid for binary </a:t>
            </a:r>
            <a:r>
              <a:rPr lang="en-IN" sz="2000" dirty="0" err="1">
                <a:latin typeface="Times New Roman" panose="02020603050405020304" pitchFamily="18" charset="0"/>
                <a:cs typeface="Times New Roman" panose="02020603050405020304" pitchFamily="18" charset="0"/>
              </a:rPr>
              <a:t>classification.Optimizer</a:t>
            </a:r>
            <a:r>
              <a:rPr lang="en-IN" sz="2000" dirty="0">
                <a:latin typeface="Times New Roman" panose="02020603050405020304" pitchFamily="18" charset="0"/>
                <a:cs typeface="Times New Roman" panose="02020603050405020304" pitchFamily="18" charset="0"/>
              </a:rPr>
              <a:t>: Adam with Binary Cross-Entropy loss function.</a:t>
            </a:r>
          </a:p>
        </p:txBody>
      </p:sp>
    </p:spTree>
    <p:extLst>
      <p:ext uri="{BB962C8B-B14F-4D97-AF65-F5344CB8AC3E}">
        <p14:creationId xmlns:p14="http://schemas.microsoft.com/office/powerpoint/2010/main" val="1876409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5DB056-8FCD-76F5-CA88-26269A097CF7}"/>
              </a:ext>
            </a:extLst>
          </p:cNvPr>
          <p:cNvSpPr txBox="1"/>
          <p:nvPr/>
        </p:nvSpPr>
        <p:spPr>
          <a:xfrm>
            <a:off x="990600" y="914400"/>
            <a:ext cx="10058400" cy="4216539"/>
          </a:xfrm>
          <a:prstGeom prst="rect">
            <a:avLst/>
          </a:prstGeom>
          <a:noFill/>
        </p:spPr>
        <p:txBody>
          <a:bodyPr wrap="square">
            <a:spAutoFit/>
          </a:bodyPr>
          <a:lstStyle/>
          <a:p>
            <a:r>
              <a:rPr lang="en-IN" sz="2400" b="1" dirty="0"/>
              <a:t>Phase C – Hybrid CNN–RNN Model Construction</a:t>
            </a:r>
          </a:p>
          <a:p>
            <a:endParaRPr lang="en-IN" sz="2400" b="1" dirty="0"/>
          </a:p>
          <a:p>
            <a:pPr algn="just"/>
            <a:r>
              <a:rPr lang="en-IN" sz="2000" dirty="0">
                <a:latin typeface="Times New Roman" panose="02020603050405020304" pitchFamily="18" charset="0"/>
                <a:cs typeface="Times New Roman" panose="02020603050405020304" pitchFamily="18" charset="0"/>
              </a:rPr>
              <a:t>Integrated CNN feature extractors with RNN classifiers to form hybrid deep learning </a:t>
            </a:r>
            <a:r>
              <a:rPr lang="en-IN" sz="2000" dirty="0" err="1">
                <a:latin typeface="Times New Roman" panose="02020603050405020304" pitchFamily="18" charset="0"/>
                <a:cs typeface="Times New Roman" panose="02020603050405020304" pitchFamily="18" charset="0"/>
              </a:rPr>
              <a:t>models.Examples</a:t>
            </a:r>
            <a:r>
              <a:rPr lang="en-IN" sz="2000" dirty="0">
                <a:latin typeface="Times New Roman" panose="02020603050405020304" pitchFamily="18" charset="0"/>
                <a:cs typeface="Times New Roman" panose="02020603050405020304" pitchFamily="18" charset="0"/>
              </a:rPr>
              <a:t> of hybrid combinations:MobileNetV2–LSTM–BiLSTMDenseNet121–GRU–LSTMDenseNet121–GRU–</a:t>
            </a:r>
            <a:r>
              <a:rPr lang="en-IN" sz="2000" dirty="0" err="1">
                <a:latin typeface="Times New Roman" panose="02020603050405020304" pitchFamily="18" charset="0"/>
                <a:cs typeface="Times New Roman" panose="02020603050405020304" pitchFamily="18" charset="0"/>
              </a:rPr>
              <a:t>BiLSTMTraining</a:t>
            </a:r>
            <a:r>
              <a:rPr lang="en-IN" sz="2000" dirty="0">
                <a:latin typeface="Times New Roman" panose="02020603050405020304" pitchFamily="18" charset="0"/>
                <a:cs typeface="Times New Roman" panose="02020603050405020304" pitchFamily="18" charset="0"/>
              </a:rPr>
              <a:t> Optimizer: SGD with </a:t>
            </a:r>
            <a:r>
              <a:rPr lang="en-IN" sz="2000" dirty="0" err="1">
                <a:latin typeface="Times New Roman" panose="02020603050405020304" pitchFamily="18" charset="0"/>
                <a:cs typeface="Times New Roman" panose="02020603050405020304" pitchFamily="18" charset="0"/>
              </a:rPr>
              <a:t>EarlyStopping</a:t>
            </a:r>
            <a:r>
              <a:rPr lang="en-IN" sz="2000" dirty="0">
                <a:latin typeface="Times New Roman" panose="02020603050405020304" pitchFamily="18" charset="0"/>
                <a:cs typeface="Times New Roman" panose="02020603050405020304" pitchFamily="18" charset="0"/>
              </a:rPr>
              <a:t> and </a:t>
            </a:r>
            <a:r>
              <a:rPr lang="en-IN" sz="2000" dirty="0" err="1">
                <a:latin typeface="Times New Roman" panose="02020603050405020304" pitchFamily="18" charset="0"/>
                <a:cs typeface="Times New Roman" panose="02020603050405020304" pitchFamily="18" charset="0"/>
              </a:rPr>
              <a:t>ReduceLROnPlateau</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callbacks.Evaluation</a:t>
            </a:r>
            <a:r>
              <a:rPr lang="en-IN" sz="2000" dirty="0">
                <a:latin typeface="Times New Roman" panose="02020603050405020304" pitchFamily="18" charset="0"/>
                <a:cs typeface="Times New Roman" panose="02020603050405020304" pitchFamily="18" charset="0"/>
              </a:rPr>
              <a:t> Metrics: Accuracy, Precision, Recall, F1-Score, and Confusion </a:t>
            </a:r>
            <a:r>
              <a:rPr lang="en-IN" sz="2000" dirty="0" err="1">
                <a:latin typeface="Times New Roman" panose="02020603050405020304" pitchFamily="18" charset="0"/>
                <a:cs typeface="Times New Roman" panose="02020603050405020304" pitchFamily="18" charset="0"/>
              </a:rPr>
              <a:t>Matrix.Best</a:t>
            </a:r>
            <a:r>
              <a:rPr lang="en-IN" sz="2000" dirty="0">
                <a:latin typeface="Times New Roman" panose="02020603050405020304" pitchFamily="18" charset="0"/>
                <a:cs typeface="Times New Roman" panose="02020603050405020304" pitchFamily="18" charset="0"/>
              </a:rPr>
              <a:t> Performance: Hybrid CNN–RNN models achieved significant accuracy improvements</a:t>
            </a:r>
            <a:r>
              <a:rPr lang="en-IN" sz="2000" dirty="0"/>
              <a:t>.</a:t>
            </a:r>
          </a:p>
          <a:p>
            <a:pPr algn="just"/>
            <a:endParaRPr lang="en-IN" sz="2000" dirty="0"/>
          </a:p>
          <a:p>
            <a:pPr algn="just"/>
            <a:endParaRPr lang="en-IN" sz="2000" dirty="0"/>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hybrid CNN–RNN model combines CNNs for feature extraction and RNNs for sequential learning, enabling accurate malaria cell classification. This approach improves diagnostic accuracy and robustness.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696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3108F94-AC45-A5F7-5391-86ADE550D0C1}"/>
              </a:ext>
            </a:extLst>
          </p:cNvPr>
          <p:cNvGraphicFramePr>
            <a:graphicFrameLocks noGrp="1"/>
          </p:cNvGraphicFramePr>
          <p:nvPr>
            <p:extLst>
              <p:ext uri="{D42A27DB-BD31-4B8C-83A1-F6EECF244321}">
                <p14:modId xmlns:p14="http://schemas.microsoft.com/office/powerpoint/2010/main" val="1762337809"/>
              </p:ext>
            </p:extLst>
          </p:nvPr>
        </p:nvGraphicFramePr>
        <p:xfrm>
          <a:off x="3158706" y="3791239"/>
          <a:ext cx="6096000" cy="2220684"/>
        </p:xfrm>
        <a:graphic>
          <a:graphicData uri="http://schemas.openxmlformats.org/drawingml/2006/table">
            <a:tbl>
              <a:tblPr firstRow="1" bandRow="1">
                <a:tableStyleId>{5C22544A-7EE6-4342-B048-85BDC9FD1C3A}</a:tableStyleId>
              </a:tblPr>
              <a:tblGrid>
                <a:gridCol w="2863273">
                  <a:extLst>
                    <a:ext uri="{9D8B030D-6E8A-4147-A177-3AD203B41FA5}">
                      <a16:colId xmlns:a16="http://schemas.microsoft.com/office/drawing/2014/main" val="4147655049"/>
                    </a:ext>
                  </a:extLst>
                </a:gridCol>
                <a:gridCol w="3232727">
                  <a:extLst>
                    <a:ext uri="{9D8B030D-6E8A-4147-A177-3AD203B41FA5}">
                      <a16:colId xmlns:a16="http://schemas.microsoft.com/office/drawing/2014/main" val="3395406261"/>
                    </a:ext>
                  </a:extLst>
                </a:gridCol>
              </a:tblGrid>
              <a:tr h="370114">
                <a:tc>
                  <a:txBody>
                    <a:bodyPr/>
                    <a:lstStyle/>
                    <a:p>
                      <a:r>
                        <a:rPr lang="en-IN" dirty="0"/>
                        <a:t>          Parameter</a:t>
                      </a:r>
                    </a:p>
                  </a:txBody>
                  <a:tcPr/>
                </a:tc>
                <a:tc>
                  <a:txBody>
                    <a:bodyPr/>
                    <a:lstStyle/>
                    <a:p>
                      <a:r>
                        <a:rPr lang="en-IN" dirty="0"/>
                        <a:t>           Value</a:t>
                      </a:r>
                    </a:p>
                  </a:txBody>
                  <a:tcPr/>
                </a:tc>
                <a:extLst>
                  <a:ext uri="{0D108BD9-81ED-4DB2-BD59-A6C34878D82A}">
                    <a16:rowId xmlns:a16="http://schemas.microsoft.com/office/drawing/2014/main" val="2609822293"/>
                  </a:ext>
                </a:extLst>
              </a:tr>
              <a:tr h="370114">
                <a:tc>
                  <a:txBody>
                    <a:bodyPr/>
                    <a:lstStyle/>
                    <a:p>
                      <a:r>
                        <a:rPr lang="en-IN" dirty="0"/>
                        <a:t>Epochs</a:t>
                      </a:r>
                    </a:p>
                  </a:txBody>
                  <a:tcPr/>
                </a:tc>
                <a:tc>
                  <a:txBody>
                    <a:bodyPr/>
                    <a:lstStyle/>
                    <a:p>
                      <a:r>
                        <a:rPr lang="en-IN" dirty="0"/>
                        <a:t>25</a:t>
                      </a:r>
                    </a:p>
                  </a:txBody>
                  <a:tcPr/>
                </a:tc>
                <a:extLst>
                  <a:ext uri="{0D108BD9-81ED-4DB2-BD59-A6C34878D82A}">
                    <a16:rowId xmlns:a16="http://schemas.microsoft.com/office/drawing/2014/main" val="3763612775"/>
                  </a:ext>
                </a:extLst>
              </a:tr>
              <a:tr h="370114">
                <a:tc>
                  <a:txBody>
                    <a:bodyPr/>
                    <a:lstStyle/>
                    <a:p>
                      <a:r>
                        <a:rPr lang="en-IN" dirty="0"/>
                        <a:t>Batch</a:t>
                      </a:r>
                    </a:p>
                  </a:txBody>
                  <a:tcPr/>
                </a:tc>
                <a:tc>
                  <a:txBody>
                    <a:bodyPr/>
                    <a:lstStyle/>
                    <a:p>
                      <a:r>
                        <a:rPr lang="en-IN" dirty="0"/>
                        <a:t>64</a:t>
                      </a:r>
                    </a:p>
                  </a:txBody>
                  <a:tcPr/>
                </a:tc>
                <a:extLst>
                  <a:ext uri="{0D108BD9-81ED-4DB2-BD59-A6C34878D82A}">
                    <a16:rowId xmlns:a16="http://schemas.microsoft.com/office/drawing/2014/main" val="524232963"/>
                  </a:ext>
                </a:extLst>
              </a:tr>
              <a:tr h="370114">
                <a:tc>
                  <a:txBody>
                    <a:bodyPr/>
                    <a:lstStyle/>
                    <a:p>
                      <a:r>
                        <a:rPr lang="en-IN" dirty="0"/>
                        <a:t>Image Size</a:t>
                      </a:r>
                    </a:p>
                  </a:txBody>
                  <a:tcPr/>
                </a:tc>
                <a:tc>
                  <a:txBody>
                    <a:bodyPr/>
                    <a:lstStyle/>
                    <a:p>
                      <a:r>
                        <a:rPr lang="en-IN" dirty="0"/>
                        <a:t>128×128</a:t>
                      </a:r>
                    </a:p>
                  </a:txBody>
                  <a:tcPr/>
                </a:tc>
                <a:extLst>
                  <a:ext uri="{0D108BD9-81ED-4DB2-BD59-A6C34878D82A}">
                    <a16:rowId xmlns:a16="http://schemas.microsoft.com/office/drawing/2014/main" val="947772715"/>
                  </a:ext>
                </a:extLst>
              </a:tr>
              <a:tr h="370114">
                <a:tc>
                  <a:txBody>
                    <a:bodyPr/>
                    <a:lstStyle/>
                    <a:p>
                      <a:r>
                        <a:rPr lang="en-IN" dirty="0"/>
                        <a:t>Optimizer</a:t>
                      </a:r>
                    </a:p>
                  </a:txBody>
                  <a:tcPr/>
                </a:tc>
                <a:tc>
                  <a:txBody>
                    <a:bodyPr/>
                    <a:lstStyle/>
                    <a:p>
                      <a:r>
                        <a:rPr lang="en-IN" dirty="0"/>
                        <a:t>Adam Optimizer</a:t>
                      </a:r>
                    </a:p>
                  </a:txBody>
                  <a:tcPr/>
                </a:tc>
                <a:extLst>
                  <a:ext uri="{0D108BD9-81ED-4DB2-BD59-A6C34878D82A}">
                    <a16:rowId xmlns:a16="http://schemas.microsoft.com/office/drawing/2014/main" val="545634899"/>
                  </a:ext>
                </a:extLst>
              </a:tr>
              <a:tr h="370114">
                <a:tc>
                  <a:txBody>
                    <a:bodyPr/>
                    <a:lstStyle/>
                    <a:p>
                      <a:r>
                        <a:rPr lang="en-IN" dirty="0"/>
                        <a:t>loss</a:t>
                      </a:r>
                    </a:p>
                  </a:txBody>
                  <a:tcPr/>
                </a:tc>
                <a:tc>
                  <a:txBody>
                    <a:bodyPr/>
                    <a:lstStyle/>
                    <a:p>
                      <a:r>
                        <a:rPr lang="en-IN" dirty="0"/>
                        <a:t>Binary Cross-Entropy</a:t>
                      </a:r>
                    </a:p>
                  </a:txBody>
                  <a:tcPr/>
                </a:tc>
                <a:extLst>
                  <a:ext uri="{0D108BD9-81ED-4DB2-BD59-A6C34878D82A}">
                    <a16:rowId xmlns:a16="http://schemas.microsoft.com/office/drawing/2014/main" val="3081279779"/>
                  </a:ext>
                </a:extLst>
              </a:tr>
            </a:tbl>
          </a:graphicData>
        </a:graphic>
      </p:graphicFrame>
      <p:sp>
        <p:nvSpPr>
          <p:cNvPr id="4" name="TextBox 3">
            <a:extLst>
              <a:ext uri="{FF2B5EF4-FFF2-40B4-BE49-F238E27FC236}">
                <a16:creationId xmlns:a16="http://schemas.microsoft.com/office/drawing/2014/main" id="{5B08910C-49E3-7D0F-6A5C-2BD329966334}"/>
              </a:ext>
            </a:extLst>
          </p:cNvPr>
          <p:cNvSpPr txBox="1"/>
          <p:nvPr/>
        </p:nvSpPr>
        <p:spPr>
          <a:xfrm>
            <a:off x="1219200" y="841077"/>
            <a:ext cx="9822611"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Model Training Parameters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hybrid CNN–RNN model was trained for </a:t>
            </a:r>
            <a:r>
              <a:rPr lang="en-US" sz="2000" b="1" dirty="0">
                <a:latin typeface="Times New Roman" panose="02020603050405020304" pitchFamily="18" charset="0"/>
                <a:cs typeface="Times New Roman" panose="02020603050405020304" pitchFamily="18" charset="0"/>
              </a:rPr>
              <a:t>25 epochs</a:t>
            </a:r>
            <a:r>
              <a:rPr lang="en-US" sz="2000" dirty="0">
                <a:latin typeface="Times New Roman" panose="02020603050405020304" pitchFamily="18" charset="0"/>
                <a:cs typeface="Times New Roman" panose="02020603050405020304" pitchFamily="18" charset="0"/>
              </a:rPr>
              <a:t> with a </a:t>
            </a:r>
            <a:r>
              <a:rPr lang="en-US" sz="2000" b="1" dirty="0">
                <a:latin typeface="Times New Roman" panose="02020603050405020304" pitchFamily="18" charset="0"/>
                <a:cs typeface="Times New Roman" panose="02020603050405020304" pitchFamily="18" charset="0"/>
              </a:rPr>
              <a:t>batch size of 64</a:t>
            </a:r>
            <a:r>
              <a:rPr lang="en-US" sz="2000" dirty="0">
                <a:latin typeface="Times New Roman" panose="02020603050405020304" pitchFamily="18" charset="0"/>
                <a:cs typeface="Times New Roman" panose="02020603050405020304" pitchFamily="18" charset="0"/>
              </a:rPr>
              <a:t>, using </a:t>
            </a:r>
            <a:r>
              <a:rPr lang="en-US" sz="2000" b="1" dirty="0">
                <a:latin typeface="Times New Roman" panose="02020603050405020304" pitchFamily="18" charset="0"/>
                <a:cs typeface="Times New Roman" panose="02020603050405020304" pitchFamily="18" charset="0"/>
              </a:rPr>
              <a:t>128×128 pixel</a:t>
            </a:r>
            <a:r>
              <a:rPr lang="en-US" sz="2000" dirty="0">
                <a:latin typeface="Times New Roman" panose="02020603050405020304" pitchFamily="18" charset="0"/>
                <a:cs typeface="Times New Roman" panose="02020603050405020304" pitchFamily="18" charset="0"/>
              </a:rPr>
              <a:t> input images for consistency. The </a:t>
            </a:r>
            <a:r>
              <a:rPr lang="en-US" sz="2000" b="1" dirty="0">
                <a:latin typeface="Times New Roman" panose="02020603050405020304" pitchFamily="18" charset="0"/>
                <a:cs typeface="Times New Roman" panose="02020603050405020304" pitchFamily="18" charset="0"/>
              </a:rPr>
              <a:t>Adam optimizer</a:t>
            </a:r>
            <a:r>
              <a:rPr lang="en-US" sz="2000" dirty="0">
                <a:latin typeface="Times New Roman" panose="02020603050405020304" pitchFamily="18" charset="0"/>
                <a:cs typeface="Times New Roman" panose="02020603050405020304" pitchFamily="18" charset="0"/>
              </a:rPr>
              <a:t> was chosen for its adaptive learning rate, ensuring faster and stable convergence. </a:t>
            </a:r>
            <a:r>
              <a:rPr lang="en-US" sz="2000" b="1" dirty="0">
                <a:latin typeface="Times New Roman" panose="02020603050405020304" pitchFamily="18" charset="0"/>
                <a:cs typeface="Times New Roman" panose="02020603050405020304" pitchFamily="18" charset="0"/>
              </a:rPr>
              <a:t>Binary Cross-Entropy</a:t>
            </a:r>
            <a:r>
              <a:rPr lang="en-US" sz="2000" dirty="0">
                <a:latin typeface="Times New Roman" panose="02020603050405020304" pitchFamily="18" charset="0"/>
                <a:cs typeface="Times New Roman" panose="02020603050405020304" pitchFamily="18" charset="0"/>
              </a:rPr>
              <a:t> served as the loss function for effective </a:t>
            </a:r>
            <a:r>
              <a:rPr lang="en-US" sz="2000" b="1" dirty="0">
                <a:latin typeface="Times New Roman" panose="02020603050405020304" pitchFamily="18" charset="0"/>
                <a:cs typeface="Times New Roman" panose="02020603050405020304" pitchFamily="18" charset="0"/>
              </a:rPr>
              <a:t>binary classification</a:t>
            </a:r>
            <a:r>
              <a:rPr lang="en-US" sz="2000" dirty="0">
                <a:latin typeface="Times New Roman" panose="02020603050405020304" pitchFamily="18" charset="0"/>
                <a:cs typeface="Times New Roman" panose="02020603050405020304" pitchFamily="18" charset="0"/>
              </a:rPr>
              <a:t> between parasitized and uninfected cells. These parameters helped achieve high accuracy and efficient model performance.</a:t>
            </a:r>
          </a:p>
          <a:p>
            <a:pPr algn="ctr"/>
            <a:endParaRPr lang="en-US" dirty="0"/>
          </a:p>
        </p:txBody>
      </p:sp>
    </p:spTree>
    <p:extLst>
      <p:ext uri="{BB962C8B-B14F-4D97-AF65-F5344CB8AC3E}">
        <p14:creationId xmlns:p14="http://schemas.microsoft.com/office/powerpoint/2010/main" val="3313166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14" name="TextBox 13">
            <a:extLst>
              <a:ext uri="{FF2B5EF4-FFF2-40B4-BE49-F238E27FC236}">
                <a16:creationId xmlns:a16="http://schemas.microsoft.com/office/drawing/2014/main" id="{ED3E1A30-BAA1-AA8D-1B57-3CD97DD1336F}"/>
              </a:ext>
            </a:extLst>
          </p:cNvPr>
          <p:cNvSpPr txBox="1"/>
          <p:nvPr/>
        </p:nvSpPr>
        <p:spPr>
          <a:xfrm>
            <a:off x="1600200" y="1582341"/>
            <a:ext cx="9504426" cy="4401205"/>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Software Used: Python,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environment, OpenCV for preprocessing.</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Hardware Used: NVIDIA Tesla T4 GPU,16 GB RAM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),256×256 image input      resolution</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Dataset: NIH Malaria Cell Image Dataset,27,558 microscopic images (Parasitized &amp; Uninfected),Split: 80% training, 10% validation, 10% testing</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Training Setup : Epochs: 25,Batch size: 32,Loss: Binary Cross-</a:t>
            </a:r>
            <a:r>
              <a:rPr lang="en-IN" sz="2000" dirty="0" err="1">
                <a:latin typeface="Times New Roman" panose="02020603050405020304" pitchFamily="18" charset="0"/>
                <a:cs typeface="Times New Roman" panose="02020603050405020304" pitchFamily="18" charset="0"/>
              </a:rPr>
              <a:t>Entropy,CNNs</a:t>
            </a:r>
            <a:r>
              <a:rPr lang="en-IN" sz="2000" dirty="0">
                <a:latin typeface="Times New Roman" panose="02020603050405020304" pitchFamily="18" charset="0"/>
                <a:cs typeface="Times New Roman" panose="02020603050405020304" pitchFamily="18" charset="0"/>
              </a:rPr>
              <a:t>: DenseNet121, MobileNetV2 (feature extractors),RNNs: LSTM, GRU, </a:t>
            </a:r>
            <a:r>
              <a:rPr lang="en-IN" sz="2000" dirty="0" err="1">
                <a:latin typeface="Times New Roman" panose="02020603050405020304" pitchFamily="18" charset="0"/>
                <a:cs typeface="Times New Roman" panose="02020603050405020304" pitchFamily="18" charset="0"/>
              </a:rPr>
              <a:t>BiLSTM</a:t>
            </a:r>
            <a:r>
              <a:rPr lang="en-IN" sz="2000" dirty="0">
                <a:latin typeface="Times New Roman" panose="02020603050405020304" pitchFamily="18" charset="0"/>
                <a:cs typeface="Times New Roman" panose="02020603050405020304" pitchFamily="18" charset="0"/>
              </a:rPr>
              <a:t> (sequence classifiers)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 </a:t>
            </a:r>
            <a:r>
              <a:rPr lang="en-US" sz="2000" dirty="0">
                <a:latin typeface="Times New Roman" panose="02020603050405020304" pitchFamily="18" charset="0"/>
                <a:cs typeface="Times New Roman" panose="02020603050405020304" pitchFamily="18" charset="0"/>
              </a:rPr>
              <a:t>Hybrid CNN–RNN model achieving 97.34% </a:t>
            </a:r>
            <a:r>
              <a:rPr lang="en-US" sz="2000" dirty="0" err="1">
                <a:latin typeface="Times New Roman" panose="02020603050405020304" pitchFamily="18" charset="0"/>
                <a:cs typeface="Times New Roman" panose="02020603050405020304" pitchFamily="18" charset="0"/>
              </a:rPr>
              <a:t>accuracy,Precision</a:t>
            </a:r>
            <a:r>
              <a:rPr lang="en-US" sz="2000" dirty="0">
                <a:latin typeface="Times New Roman" panose="02020603050405020304" pitchFamily="18" charset="0"/>
                <a:cs typeface="Times New Roman" panose="02020603050405020304" pitchFamily="18" charset="0"/>
              </a:rPr>
              <a:t>, Recall, F1-score = 0.96</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Challenges Faced: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Long training time → reduced with pretrained CNNs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Dataset noise and poor-quality smears → solved using data cleaning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Overfitting → handled by dropout and augmentation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20</a:t>
            </a:fld>
            <a:endParaRPr spc="-25" dirty="0"/>
          </a:p>
        </p:txBody>
      </p:sp>
      <p:graphicFrame>
        <p:nvGraphicFramePr>
          <p:cNvPr id="12" name="Table 11">
            <a:extLst>
              <a:ext uri="{FF2B5EF4-FFF2-40B4-BE49-F238E27FC236}">
                <a16:creationId xmlns:a16="http://schemas.microsoft.com/office/drawing/2014/main" id="{469C732F-0932-7123-8B9A-45865327FE95}"/>
              </a:ext>
            </a:extLst>
          </p:cNvPr>
          <p:cNvGraphicFramePr>
            <a:graphicFrameLocks noGrp="1"/>
          </p:cNvGraphicFramePr>
          <p:nvPr>
            <p:extLst>
              <p:ext uri="{D42A27DB-BD31-4B8C-83A1-F6EECF244321}">
                <p14:modId xmlns:p14="http://schemas.microsoft.com/office/powerpoint/2010/main" val="2263869377"/>
              </p:ext>
            </p:extLst>
          </p:nvPr>
        </p:nvGraphicFramePr>
        <p:xfrm>
          <a:off x="7162800" y="1483468"/>
          <a:ext cx="3733800" cy="2291835"/>
        </p:xfrm>
        <a:graphic>
          <a:graphicData uri="http://schemas.openxmlformats.org/drawingml/2006/table">
            <a:tbl>
              <a:tblPr firstRow="1" bandRow="1">
                <a:tableStyleId>{5C22544A-7EE6-4342-B048-85BDC9FD1C3A}</a:tableStyleId>
              </a:tblPr>
              <a:tblGrid>
                <a:gridCol w="1880547">
                  <a:extLst>
                    <a:ext uri="{9D8B030D-6E8A-4147-A177-3AD203B41FA5}">
                      <a16:colId xmlns:a16="http://schemas.microsoft.com/office/drawing/2014/main" val="1504589966"/>
                    </a:ext>
                  </a:extLst>
                </a:gridCol>
                <a:gridCol w="1853253">
                  <a:extLst>
                    <a:ext uri="{9D8B030D-6E8A-4147-A177-3AD203B41FA5}">
                      <a16:colId xmlns:a16="http://schemas.microsoft.com/office/drawing/2014/main" val="2943866507"/>
                    </a:ext>
                  </a:extLst>
                </a:gridCol>
              </a:tblGrid>
              <a:tr h="448929">
                <a:tc>
                  <a:txBody>
                    <a:bodyPr/>
                    <a:lstStyle/>
                    <a:p>
                      <a:r>
                        <a:rPr lang="en-IN" dirty="0"/>
                        <a:t>Metric</a:t>
                      </a:r>
                    </a:p>
                  </a:txBody>
                  <a:tcPr/>
                </a:tc>
                <a:tc>
                  <a:txBody>
                    <a:bodyPr/>
                    <a:lstStyle/>
                    <a:p>
                      <a:r>
                        <a:rPr lang="en-IN" dirty="0"/>
                        <a:t>Value</a:t>
                      </a:r>
                    </a:p>
                  </a:txBody>
                  <a:tcPr/>
                </a:tc>
                <a:extLst>
                  <a:ext uri="{0D108BD9-81ED-4DB2-BD59-A6C34878D82A}">
                    <a16:rowId xmlns:a16="http://schemas.microsoft.com/office/drawing/2014/main" val="34485992"/>
                  </a:ext>
                </a:extLst>
              </a:tr>
              <a:tr h="496119">
                <a:tc>
                  <a:txBody>
                    <a:bodyPr/>
                    <a:lstStyle/>
                    <a:p>
                      <a:r>
                        <a:rPr lang="en-IN" dirty="0"/>
                        <a:t>Accuracy</a:t>
                      </a:r>
                    </a:p>
                  </a:txBody>
                  <a:tcPr/>
                </a:tc>
                <a:tc>
                  <a:txBody>
                    <a:bodyPr/>
                    <a:lstStyle/>
                    <a:p>
                      <a:r>
                        <a:rPr lang="en-IN" dirty="0"/>
                        <a:t>97.34%</a:t>
                      </a:r>
                    </a:p>
                  </a:txBody>
                  <a:tcPr/>
                </a:tc>
                <a:extLst>
                  <a:ext uri="{0D108BD9-81ED-4DB2-BD59-A6C34878D82A}">
                    <a16:rowId xmlns:a16="http://schemas.microsoft.com/office/drawing/2014/main" val="2368884588"/>
                  </a:ext>
                </a:extLst>
              </a:tr>
              <a:tr h="448929">
                <a:tc>
                  <a:txBody>
                    <a:bodyPr/>
                    <a:lstStyle/>
                    <a:p>
                      <a:r>
                        <a:rPr lang="en-IN" dirty="0" err="1"/>
                        <a:t>Precisioin</a:t>
                      </a:r>
                      <a:endParaRPr lang="en-IN" dirty="0"/>
                    </a:p>
                  </a:txBody>
                  <a:tcPr/>
                </a:tc>
                <a:tc>
                  <a:txBody>
                    <a:bodyPr/>
                    <a:lstStyle/>
                    <a:p>
                      <a:r>
                        <a:rPr lang="en-IN" dirty="0"/>
                        <a:t>0.96</a:t>
                      </a:r>
                    </a:p>
                  </a:txBody>
                  <a:tcPr/>
                </a:tc>
                <a:extLst>
                  <a:ext uri="{0D108BD9-81ED-4DB2-BD59-A6C34878D82A}">
                    <a16:rowId xmlns:a16="http://schemas.microsoft.com/office/drawing/2014/main" val="3677266916"/>
                  </a:ext>
                </a:extLst>
              </a:tr>
              <a:tr h="448929">
                <a:tc>
                  <a:txBody>
                    <a:bodyPr/>
                    <a:lstStyle/>
                    <a:p>
                      <a:r>
                        <a:rPr lang="en-IN" dirty="0"/>
                        <a:t>Recall</a:t>
                      </a:r>
                    </a:p>
                  </a:txBody>
                  <a:tcPr/>
                </a:tc>
                <a:tc>
                  <a:txBody>
                    <a:bodyPr/>
                    <a:lstStyle/>
                    <a:p>
                      <a:r>
                        <a:rPr lang="en-IN" dirty="0"/>
                        <a:t>0.96</a:t>
                      </a:r>
                    </a:p>
                  </a:txBody>
                  <a:tcPr/>
                </a:tc>
                <a:extLst>
                  <a:ext uri="{0D108BD9-81ED-4DB2-BD59-A6C34878D82A}">
                    <a16:rowId xmlns:a16="http://schemas.microsoft.com/office/drawing/2014/main" val="4118625640"/>
                  </a:ext>
                </a:extLst>
              </a:tr>
              <a:tr h="448929">
                <a:tc>
                  <a:txBody>
                    <a:bodyPr/>
                    <a:lstStyle/>
                    <a:p>
                      <a:r>
                        <a:rPr lang="en-IN" dirty="0"/>
                        <a:t>F1 - Score</a:t>
                      </a:r>
                    </a:p>
                  </a:txBody>
                  <a:tcPr/>
                </a:tc>
                <a:tc>
                  <a:txBody>
                    <a:bodyPr/>
                    <a:lstStyle/>
                    <a:p>
                      <a:r>
                        <a:rPr lang="en-IN" dirty="0"/>
                        <a:t>o.96</a:t>
                      </a:r>
                    </a:p>
                  </a:txBody>
                  <a:tcPr/>
                </a:tc>
                <a:extLst>
                  <a:ext uri="{0D108BD9-81ED-4DB2-BD59-A6C34878D82A}">
                    <a16:rowId xmlns:a16="http://schemas.microsoft.com/office/drawing/2014/main" val="518747833"/>
                  </a:ext>
                </a:extLst>
              </a:tr>
            </a:tbl>
          </a:graphicData>
        </a:graphic>
      </p:graphicFrame>
      <p:sp>
        <p:nvSpPr>
          <p:cNvPr id="14" name="TextBox 13">
            <a:extLst>
              <a:ext uri="{FF2B5EF4-FFF2-40B4-BE49-F238E27FC236}">
                <a16:creationId xmlns:a16="http://schemas.microsoft.com/office/drawing/2014/main" id="{D8EBD162-96C6-E5B7-8AFC-DAC023A42902}"/>
              </a:ext>
            </a:extLst>
          </p:cNvPr>
          <p:cNvSpPr txBox="1"/>
          <p:nvPr/>
        </p:nvSpPr>
        <p:spPr>
          <a:xfrm>
            <a:off x="947926" y="4191001"/>
            <a:ext cx="10101073" cy="2246769"/>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achieved a </a:t>
            </a:r>
            <a:r>
              <a:rPr lang="en-US" sz="2000" b="1" dirty="0">
                <a:latin typeface="Times New Roman" panose="02020603050405020304" pitchFamily="18" charset="0"/>
                <a:cs typeface="Times New Roman" panose="02020603050405020304" pitchFamily="18" charset="0"/>
              </a:rPr>
              <a:t>training accuracy of 97.8%</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validation accuracy of 96.4%</a:t>
            </a:r>
            <a:r>
              <a:rPr lang="en-US" sz="2000" dirty="0">
                <a:latin typeface="Times New Roman" panose="02020603050405020304" pitchFamily="18" charset="0"/>
                <a:cs typeface="Times New Roman" panose="02020603050405020304" pitchFamily="18" charset="0"/>
              </a:rPr>
              <a:t> after 17 epochs.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Accuracy increased steadily</a:t>
            </a:r>
            <a:r>
              <a:rPr lang="en-US" sz="2000" dirty="0">
                <a:latin typeface="Times New Roman" panose="02020603050405020304" pitchFamily="18" charset="0"/>
                <a:cs typeface="Times New Roman" panose="02020603050405020304" pitchFamily="18" charset="0"/>
              </a:rPr>
              <a:t> across epochs, showing effective learning and feature extraction.</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Training and validation loss decreased</a:t>
            </a:r>
            <a:r>
              <a:rPr lang="en-US" sz="2000" dirty="0">
                <a:latin typeface="Times New Roman" panose="02020603050405020304" pitchFamily="18" charset="0"/>
                <a:cs typeface="Times New Roman" panose="02020603050405020304" pitchFamily="18" charset="0"/>
              </a:rPr>
              <a:t> consistently, indicating proper convergence.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hybrid CNN–RNN (DenseNet121–LSTM–GRU) architecture proved </a:t>
            </a:r>
            <a:r>
              <a:rPr lang="en-US" sz="2000" b="1" dirty="0">
                <a:latin typeface="Times New Roman" panose="02020603050405020304" pitchFamily="18" charset="0"/>
                <a:cs typeface="Times New Roman" panose="02020603050405020304" pitchFamily="18" charset="0"/>
              </a:rPr>
              <a:t>stable and generalizable</a:t>
            </a:r>
            <a:r>
              <a:rPr lang="en-US" sz="2000" dirty="0">
                <a:latin typeface="Times New Roman" panose="02020603050405020304" pitchFamily="18" charset="0"/>
                <a:cs typeface="Times New Roman" panose="02020603050405020304" pitchFamily="18" charset="0"/>
              </a:rPr>
              <a:t> on test data.</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68981D4-5C19-1693-C481-14EAD9EB5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463" y="1483467"/>
            <a:ext cx="5202937" cy="25551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754A-88F6-A12A-321F-802A413F3F32}"/>
              </a:ext>
            </a:extLst>
          </p:cNvPr>
          <p:cNvSpPr>
            <a:spLocks noGrp="1"/>
          </p:cNvSpPr>
          <p:nvPr>
            <p:ph type="title"/>
          </p:nvPr>
        </p:nvSpPr>
        <p:spPr>
          <a:xfrm>
            <a:off x="1295399" y="700406"/>
            <a:ext cx="9721739" cy="677108"/>
          </a:xfrm>
        </p:spPr>
        <p:txBody>
          <a:bodyPr wrap="square" lIns="0" tIns="0" rIns="0" bIns="0" anchor="t">
            <a:spAutoFit/>
          </a:bodyPr>
          <a:lstStyle/>
          <a:p>
            <a:r>
              <a:rPr lang="en-US" b="0" dirty="0"/>
              <a:t>Model Output Summary</a:t>
            </a:r>
            <a:endParaRPr lang="en-US" dirty="0"/>
          </a:p>
        </p:txBody>
      </p:sp>
      <p:sp>
        <p:nvSpPr>
          <p:cNvPr id="3" name="Text Placeholder 2">
            <a:extLst>
              <a:ext uri="{FF2B5EF4-FFF2-40B4-BE49-F238E27FC236}">
                <a16:creationId xmlns:a16="http://schemas.microsoft.com/office/drawing/2014/main" id="{A1C5161B-5106-E238-168A-9E3C20D26576}"/>
              </a:ext>
            </a:extLst>
          </p:cNvPr>
          <p:cNvSpPr>
            <a:spLocks noGrp="1"/>
          </p:cNvSpPr>
          <p:nvPr>
            <p:ph type="body" idx="1"/>
          </p:nvPr>
        </p:nvSpPr>
        <p:spPr>
          <a:xfrm>
            <a:off x="1295400" y="1371438"/>
            <a:ext cx="9067800" cy="1715854"/>
          </a:xfrm>
        </p:spPr>
        <p:txBody>
          <a:bodyPr wrap="square" lIns="0" tIns="0" rIns="0" bIns="0" anchor="t">
            <a:spAutoFit/>
          </a:bodyPr>
          <a:lstStyle/>
          <a:p>
            <a:pPr algn="just"/>
            <a:r>
              <a:rPr lang="en-US" sz="2000" dirty="0"/>
              <a:t>The hybrid </a:t>
            </a:r>
            <a:r>
              <a:rPr lang="en-US" sz="2000" b="1" dirty="0"/>
              <a:t>DenseNet121–LSTM–GRU</a:t>
            </a:r>
            <a:r>
              <a:rPr lang="en-US" sz="2000" dirty="0"/>
              <a:t> model accurately classifies </a:t>
            </a:r>
            <a:r>
              <a:rPr lang="en-US" sz="2000" i="1" dirty="0"/>
              <a:t>Parasitized</a:t>
            </a:r>
            <a:r>
              <a:rPr lang="en-US" sz="2000" dirty="0"/>
              <a:t> and </a:t>
            </a:r>
            <a:r>
              <a:rPr lang="en-US" sz="2000" i="1" dirty="0"/>
              <a:t>Uninfected</a:t>
            </a:r>
            <a:r>
              <a:rPr lang="en-US" sz="2000" dirty="0"/>
              <a:t> cells with confidence scores near 1.00. Its heatmaps highlight key regions influencing predictions, showing strong accuracy, reliability, and interpretability.</a:t>
            </a:r>
          </a:p>
          <a:p>
            <a:pPr algn="just"/>
            <a:endParaRPr lang="en-US" sz="2400" dirty="0"/>
          </a:p>
          <a:p>
            <a:endParaRPr lang="en-US" dirty="0"/>
          </a:p>
        </p:txBody>
      </p:sp>
      <p:pic>
        <p:nvPicPr>
          <p:cNvPr id="4" name="Picture 3">
            <a:extLst>
              <a:ext uri="{FF2B5EF4-FFF2-40B4-BE49-F238E27FC236}">
                <a16:creationId xmlns:a16="http://schemas.microsoft.com/office/drawing/2014/main" id="{AF543289-B23F-5467-585E-6B6BF56C4B62}"/>
              </a:ext>
            </a:extLst>
          </p:cNvPr>
          <p:cNvPicPr>
            <a:picLocks noChangeAspect="1"/>
          </p:cNvPicPr>
          <p:nvPr/>
        </p:nvPicPr>
        <p:blipFill>
          <a:blip r:embed="rId2"/>
          <a:stretch>
            <a:fillRect/>
          </a:stretch>
        </p:blipFill>
        <p:spPr>
          <a:xfrm>
            <a:off x="2501659" y="2950233"/>
            <a:ext cx="6254152" cy="3574212"/>
          </a:xfrm>
          <a:prstGeom prst="rect">
            <a:avLst/>
          </a:prstGeom>
        </p:spPr>
      </p:pic>
    </p:spTree>
    <p:extLst>
      <p:ext uri="{BB962C8B-B14F-4D97-AF65-F5344CB8AC3E}">
        <p14:creationId xmlns:p14="http://schemas.microsoft.com/office/powerpoint/2010/main" val="3559072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DE1657-9F52-5444-670D-3856A2DAFB3D}"/>
              </a:ext>
            </a:extLst>
          </p:cNvPr>
          <p:cNvSpPr txBox="1"/>
          <p:nvPr/>
        </p:nvSpPr>
        <p:spPr>
          <a:xfrm>
            <a:off x="838200" y="1066800"/>
            <a:ext cx="10363200" cy="163121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Supporting Visuals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Accuracy Curve:</a:t>
            </a:r>
            <a:r>
              <a:rPr lang="en-US" sz="2000" dirty="0">
                <a:latin typeface="Times New Roman" panose="02020603050405020304" pitchFamily="18" charset="0"/>
                <a:cs typeface="Times New Roman" panose="02020603050405020304" pitchFamily="18" charset="0"/>
              </a:rPr>
              <a:t> Shows training vs. validation accuracy improving consistently across epochs.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Loss Curve:</a:t>
            </a:r>
            <a:r>
              <a:rPr lang="en-US" sz="2000" dirty="0">
                <a:latin typeface="Times New Roman" panose="02020603050405020304" pitchFamily="18" charset="0"/>
                <a:cs typeface="Times New Roman" panose="02020603050405020304" pitchFamily="18" charset="0"/>
              </a:rPr>
              <a:t> Illustrates steady reduction in both training and validation loss.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Confusion Matrix:</a:t>
            </a:r>
            <a:r>
              <a:rPr lang="en-US" sz="2000" dirty="0">
                <a:latin typeface="Times New Roman" panose="02020603050405020304" pitchFamily="18" charset="0"/>
                <a:cs typeface="Times New Roman" panose="02020603050405020304" pitchFamily="18" charset="0"/>
              </a:rPr>
              <a:t> Highlights correct and incorrect classifications for infected and uninfected cells.</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C303926-5644-ACCA-A5B5-8C308BEA0EB8}"/>
              </a:ext>
            </a:extLst>
          </p:cNvPr>
          <p:cNvSpPr txBox="1"/>
          <p:nvPr/>
        </p:nvSpPr>
        <p:spPr>
          <a:xfrm>
            <a:off x="852948" y="3544431"/>
            <a:ext cx="9296400"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Insights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achieved </a:t>
            </a:r>
            <a:r>
              <a:rPr lang="en-US" sz="2000" b="1" dirty="0">
                <a:latin typeface="Times New Roman" panose="02020603050405020304" pitchFamily="18" charset="0"/>
                <a:cs typeface="Times New Roman" panose="02020603050405020304" pitchFamily="18" charset="0"/>
              </a:rPr>
              <a:t>high accuracy (≈97%)</a:t>
            </a:r>
            <a:r>
              <a:rPr lang="en-US" sz="2000" dirty="0">
                <a:latin typeface="Times New Roman" panose="02020603050405020304" pitchFamily="18" charset="0"/>
                <a:cs typeface="Times New Roman" panose="02020603050405020304" pitchFamily="18" charset="0"/>
              </a:rPr>
              <a:t> with stable convergence and minimal overfitting.</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Training and validation trends align closely</a:t>
            </a:r>
            <a:r>
              <a:rPr lang="en-US" sz="2000" dirty="0">
                <a:latin typeface="Times New Roman" panose="02020603050405020304" pitchFamily="18" charset="0"/>
                <a:cs typeface="Times New Roman" panose="02020603050405020304" pitchFamily="18" charset="0"/>
              </a:rPr>
              <a:t>, indicating strong generalization ability.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hybrid </a:t>
            </a:r>
            <a:r>
              <a:rPr lang="en-US" sz="2000" b="1" dirty="0">
                <a:latin typeface="Times New Roman" panose="02020603050405020304" pitchFamily="18" charset="0"/>
                <a:cs typeface="Times New Roman" panose="02020603050405020304" pitchFamily="18" charset="0"/>
              </a:rPr>
              <a:t>DenseNet121–LSTM–GRU</a:t>
            </a:r>
            <a:r>
              <a:rPr lang="en-US" sz="2000" dirty="0">
                <a:latin typeface="Times New Roman" panose="02020603050405020304" pitchFamily="18" charset="0"/>
                <a:cs typeface="Times New Roman" panose="02020603050405020304" pitchFamily="18" charset="0"/>
              </a:rPr>
              <a:t> model effectively combines spatial and sequential learning for malaria detection.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CNN–RNN hybrid effectively captures </a:t>
            </a:r>
            <a:r>
              <a:rPr lang="en-US" sz="2000" b="1" dirty="0">
                <a:latin typeface="Times New Roman" panose="02020603050405020304" pitchFamily="18" charset="0"/>
                <a:cs typeface="Times New Roman" panose="02020603050405020304" pitchFamily="18" charset="0"/>
              </a:rPr>
              <a:t>spatial features (CNN)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temporal dependencies (RNN)</a:t>
            </a:r>
            <a:r>
              <a:rPr lang="en-US" sz="2000" dirty="0">
                <a:latin typeface="Times New Roman" panose="02020603050405020304" pitchFamily="18" charset="0"/>
                <a:cs typeface="Times New Roman" panose="02020603050405020304" pitchFamily="18" charset="0"/>
              </a:rPr>
              <a:t> in image patterns.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8186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23</a:t>
            </a:fld>
            <a:endParaRPr spc="-25" dirty="0"/>
          </a:p>
        </p:txBody>
      </p:sp>
      <p:sp>
        <p:nvSpPr>
          <p:cNvPr id="10" name="TextBox 9">
            <a:extLst>
              <a:ext uri="{FF2B5EF4-FFF2-40B4-BE49-F238E27FC236}">
                <a16:creationId xmlns:a16="http://schemas.microsoft.com/office/drawing/2014/main" id="{5B8D5D31-1B0D-C29C-7399-F0BDFDADE327}"/>
              </a:ext>
            </a:extLst>
          </p:cNvPr>
          <p:cNvSpPr txBox="1"/>
          <p:nvPr/>
        </p:nvSpPr>
        <p:spPr>
          <a:xfrm>
            <a:off x="917575" y="1483468"/>
            <a:ext cx="10588625" cy="3170099"/>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Conclusion: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an </a:t>
            </a:r>
            <a:r>
              <a:rPr lang="en-US" sz="2000" b="1" dirty="0">
                <a:latin typeface="Times New Roman" panose="02020603050405020304" pitchFamily="18" charset="0"/>
                <a:cs typeface="Times New Roman" panose="02020603050405020304" pitchFamily="18" charset="0"/>
              </a:rPr>
              <a:t>automated CNN–RNN hybrid framework</a:t>
            </a:r>
            <a:r>
              <a:rPr lang="en-US" sz="2000" dirty="0">
                <a:latin typeface="Times New Roman" panose="02020603050405020304" pitchFamily="18" charset="0"/>
                <a:cs typeface="Times New Roman" panose="02020603050405020304" pitchFamily="18" charset="0"/>
              </a:rPr>
              <a:t> for malaria    detection.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Achieved </a:t>
            </a:r>
            <a:r>
              <a:rPr lang="en-US" sz="2000" b="1" dirty="0">
                <a:latin typeface="Times New Roman" panose="02020603050405020304" pitchFamily="18" charset="0"/>
                <a:cs typeface="Times New Roman" panose="02020603050405020304" pitchFamily="18" charset="0"/>
              </a:rPr>
              <a:t>97.34% accuracy</a:t>
            </a:r>
            <a:r>
              <a:rPr lang="en-US" sz="2000" dirty="0">
                <a:latin typeface="Times New Roman" panose="02020603050405020304" pitchFamily="18" charset="0"/>
                <a:cs typeface="Times New Roman" panose="02020603050405020304" pitchFamily="18" charset="0"/>
              </a:rPr>
              <a:t>, outperforming other existing methods.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Combines strengths of CNN (feature extraction) and RNN (sequence learning).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is suitable for </a:t>
            </a:r>
            <a:r>
              <a:rPr lang="en-US" sz="2000" b="1" dirty="0">
                <a:latin typeface="Times New Roman" panose="02020603050405020304" pitchFamily="18" charset="0"/>
                <a:cs typeface="Times New Roman" panose="02020603050405020304" pitchFamily="18" charset="0"/>
              </a:rPr>
              <a:t>real-time and mobile-based screening systems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Future Scope: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to </a:t>
            </a:r>
            <a:r>
              <a:rPr lang="en-US" sz="2000" b="1" dirty="0">
                <a:latin typeface="Times New Roman" panose="02020603050405020304" pitchFamily="18" charset="0"/>
                <a:cs typeface="Times New Roman" panose="02020603050405020304" pitchFamily="18" charset="0"/>
              </a:rPr>
              <a:t>multi-class classification</a:t>
            </a:r>
            <a:r>
              <a:rPr lang="en-US" sz="2000" dirty="0">
                <a:latin typeface="Times New Roman" panose="02020603050405020304" pitchFamily="18" charset="0"/>
                <a:cs typeface="Times New Roman" panose="02020603050405020304" pitchFamily="18" charset="0"/>
              </a:rPr>
              <a:t> for other blood cell diseases.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Integration into </a:t>
            </a:r>
            <a:r>
              <a:rPr lang="en-US" sz="2000" b="1" dirty="0">
                <a:latin typeface="Times New Roman" panose="02020603050405020304" pitchFamily="18" charset="0"/>
                <a:cs typeface="Times New Roman" panose="02020603050405020304" pitchFamily="18" charset="0"/>
              </a:rPr>
              <a:t>mobile or embedded systems</a:t>
            </a:r>
            <a:r>
              <a:rPr lang="en-US" sz="2000" dirty="0">
                <a:latin typeface="Times New Roman" panose="02020603050405020304" pitchFamily="18" charset="0"/>
                <a:cs typeface="Times New Roman" panose="02020603050405020304" pitchFamily="18" charset="0"/>
              </a:rPr>
              <a:t> for real-time use.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a:t>
            </a:r>
            <a:r>
              <a:rPr lang="en-US" sz="2000" dirty="0" err="1">
                <a:latin typeface="Times New Roman" panose="02020603050405020304" pitchFamily="18" charset="0"/>
                <a:cs typeface="Times New Roman" panose="02020603050405020304" pitchFamily="18" charset="0"/>
              </a:rPr>
              <a:t>mprove</a:t>
            </a:r>
            <a:r>
              <a:rPr lang="en-US" sz="2000" dirty="0">
                <a:latin typeface="Times New Roman" panose="02020603050405020304" pitchFamily="18" charset="0"/>
                <a:cs typeface="Times New Roman" panose="02020603050405020304" pitchFamily="18" charset="0"/>
              </a:rPr>
              <a:t> dataset diversity with </a:t>
            </a:r>
            <a:r>
              <a:rPr lang="en-US" sz="2000" b="1" dirty="0">
                <a:latin typeface="Times New Roman" panose="02020603050405020304" pitchFamily="18" charset="0"/>
                <a:cs typeface="Times New Roman" panose="02020603050405020304" pitchFamily="18" charset="0"/>
              </a:rPr>
              <a:t>different geographical samples</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Collaborate with </a:t>
            </a:r>
            <a:r>
              <a:rPr lang="en-US" sz="2000" b="1" dirty="0">
                <a:latin typeface="Times New Roman" panose="02020603050405020304" pitchFamily="18" charset="0"/>
                <a:cs typeface="Times New Roman" panose="02020603050405020304" pitchFamily="18" charset="0"/>
              </a:rPr>
              <a:t>medical institutions for real-world testing</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24</a:t>
            </a:fld>
            <a:endParaRPr spc="-25" dirty="0"/>
          </a:p>
        </p:txBody>
      </p:sp>
      <p:sp>
        <p:nvSpPr>
          <p:cNvPr id="10" name="TextBox 9">
            <a:extLst>
              <a:ext uri="{FF2B5EF4-FFF2-40B4-BE49-F238E27FC236}">
                <a16:creationId xmlns:a16="http://schemas.microsoft.com/office/drawing/2014/main" id="{13B6AA6A-2EB7-CEB6-B408-0434CE5AF2AD}"/>
              </a:ext>
            </a:extLst>
          </p:cNvPr>
          <p:cNvSpPr txBox="1"/>
          <p:nvPr/>
        </p:nvSpPr>
        <p:spPr>
          <a:xfrm>
            <a:off x="1045463" y="1443841"/>
            <a:ext cx="10275063" cy="5016758"/>
          </a:xfrm>
          <a:prstGeom prst="rect">
            <a:avLst/>
          </a:prstGeom>
          <a:noFill/>
        </p:spPr>
        <p:txBody>
          <a:bodyPr wrap="square">
            <a:spAutoFit/>
          </a:bodyPr>
          <a:lstStyle/>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[1] A. Dev and M. M. Fouda, “Developing and deploying a hybrid deep learning system to identify malaria in microscopic pictures,” IEEE Xplore, 2024.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[2] J. Wu and X. Zhao, “An innovative method for classifying malaria cells that makes use of a multi-level attention split network,” Data (MDPI), 2024.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[3] J. Alonso-</a:t>
            </a:r>
            <a:r>
              <a:rPr lang="en-IN" sz="2000" dirty="0" err="1">
                <a:latin typeface="Times New Roman" panose="02020603050405020304" pitchFamily="18" charset="0"/>
                <a:cs typeface="Times New Roman" panose="02020603050405020304" pitchFamily="18" charset="0"/>
              </a:rPr>
              <a:t>Ram´ırez</a:t>
            </a:r>
            <a:r>
              <a:rPr lang="en-IN" sz="2000" dirty="0">
                <a:latin typeface="Times New Roman" panose="02020603050405020304" pitchFamily="18" charset="0"/>
                <a:cs typeface="Times New Roman" panose="02020603050405020304" pitchFamily="18" charset="0"/>
              </a:rPr>
              <a:t>, L. F. </a:t>
            </a:r>
            <a:r>
              <a:rPr lang="en-IN" sz="2000" dirty="0" err="1">
                <a:latin typeface="Times New Roman" panose="02020603050405020304" pitchFamily="18" charset="0"/>
                <a:cs typeface="Times New Roman" panose="02020603050405020304" pitchFamily="18" charset="0"/>
              </a:rPr>
              <a:t>Mej´ıa</a:t>
            </a:r>
            <a:r>
              <a:rPr lang="en-IN" sz="2000" dirty="0">
                <a:latin typeface="Times New Roman" panose="02020603050405020304" pitchFamily="18" charset="0"/>
                <a:cs typeface="Times New Roman" panose="02020603050405020304" pitchFamily="18" charset="0"/>
              </a:rPr>
              <a:t>, S. Gomez, P. A. Restrepo, and ´ F. Rincon, “Use of lightweight </a:t>
            </a:r>
            <a:r>
              <a:rPr lang="en-IN" sz="2000" dirty="0" err="1">
                <a:latin typeface="Times New Roman" panose="02020603050405020304" pitchFamily="18" charset="0"/>
                <a:cs typeface="Times New Roman" panose="02020603050405020304" pitchFamily="18" charset="0"/>
              </a:rPr>
              <a:t>cnns</a:t>
            </a:r>
            <a:r>
              <a:rPr lang="en-IN" sz="2000" dirty="0">
                <a:latin typeface="Times New Roman" panose="02020603050405020304" pitchFamily="18" charset="0"/>
                <a:cs typeface="Times New Roman" panose="02020603050405020304" pitchFamily="18" charset="0"/>
              </a:rPr>
              <a:t> in low-resource settings for ´ real-time malaria detection,” Technologies (MDPI), 2024.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[4] D. </a:t>
            </a:r>
            <a:r>
              <a:rPr lang="en-IN" sz="2000" dirty="0" err="1">
                <a:latin typeface="Times New Roman" panose="02020603050405020304" pitchFamily="18" charset="0"/>
                <a:cs typeface="Times New Roman" panose="02020603050405020304" pitchFamily="18" charset="0"/>
              </a:rPr>
              <a:t>Sukumarran</a:t>
            </a:r>
            <a:r>
              <a:rPr lang="en-IN" sz="2000" dirty="0">
                <a:latin typeface="Times New Roman" panose="02020603050405020304" pitchFamily="18" charset="0"/>
                <a:cs typeface="Times New Roman" panose="02020603050405020304" pitchFamily="18" charset="0"/>
              </a:rPr>
              <a:t>, A. Nair, R. P., S. K. Menon, and P. Varma, “Utilizing an improved yolov4 deep learning model to identify parasites, transmission vectors, and cells infected with malaria,” Vectors and Parasites, 2024.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[5] H. A. H. Chaudhry, F. Zahra, M. Haseeb, S. A. Raza, and A. Aslam, “Design of an efficient, low-complexity deep learning model for automated analysis of malaria-infected blood smear images,” Applications of Neural Computing, 2024.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[6] H. M. Asif, S. Noreen, B. Khan, F. Yousuf, and I. Ahmed, “Detection of malaria parasites using an advanced deep bottleneck residual network approach,” Intelligent and Complex Systems, 2024.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B0024-256D-D246-1655-03A019F6C86B}"/>
              </a:ext>
            </a:extLst>
          </p:cNvPr>
          <p:cNvSpPr txBox="1"/>
          <p:nvPr/>
        </p:nvSpPr>
        <p:spPr>
          <a:xfrm>
            <a:off x="914400" y="1143000"/>
            <a:ext cx="10439400" cy="4093428"/>
          </a:xfrm>
          <a:prstGeom prst="rect">
            <a:avLst/>
          </a:prstGeom>
          <a:noFill/>
        </p:spPr>
        <p:txBody>
          <a:bodyPr wrap="square">
            <a:spAutoFit/>
          </a:bodyPr>
          <a:lstStyle/>
          <a:p>
            <a:pPr marL="457200" indent="-457200">
              <a:buAutoNum type="arabicPeriod" startAt="7"/>
            </a:pPr>
            <a:r>
              <a:rPr lang="en-IN" sz="2000" dirty="0">
                <a:latin typeface="Times New Roman" panose="02020603050405020304" pitchFamily="18" charset="0"/>
                <a:cs typeface="Times New Roman" panose="02020603050405020304" pitchFamily="18" charset="0"/>
              </a:rPr>
              <a:t>[7] A. </a:t>
            </a:r>
            <a:r>
              <a:rPr lang="en-IN" sz="2000" dirty="0" err="1">
                <a:latin typeface="Times New Roman" panose="02020603050405020304" pitchFamily="18" charset="0"/>
                <a:cs typeface="Times New Roman" panose="02020603050405020304" pitchFamily="18" charset="0"/>
              </a:rPr>
              <a:t>Anorboev</a:t>
            </a:r>
            <a:r>
              <a:rPr lang="en-IN" sz="2000" dirty="0">
                <a:latin typeface="Times New Roman" panose="02020603050405020304" pitchFamily="18" charset="0"/>
                <a:cs typeface="Times New Roman" panose="02020603050405020304" pitchFamily="18" charset="0"/>
              </a:rPr>
              <a:t>, E. Petrova, S. Saidov, and D. </a:t>
            </a:r>
            <a:r>
              <a:rPr lang="en-IN" sz="2000" dirty="0" err="1">
                <a:latin typeface="Times New Roman" panose="02020603050405020304" pitchFamily="18" charset="0"/>
                <a:cs typeface="Times New Roman" panose="02020603050405020304" pitchFamily="18" charset="0"/>
              </a:rPr>
              <a:t>Khamidov</a:t>
            </a:r>
            <a:r>
              <a:rPr lang="en-IN" sz="2000" dirty="0">
                <a:latin typeface="Times New Roman" panose="02020603050405020304" pitchFamily="18" charset="0"/>
                <a:cs typeface="Times New Roman" panose="02020603050405020304" pitchFamily="18" charset="0"/>
              </a:rPr>
              <a:t>, “Selective intensity ensemble classifier (</a:t>
            </a:r>
            <a:r>
              <a:rPr lang="en-IN" sz="2000" dirty="0" err="1">
                <a:latin typeface="Times New Roman" panose="02020603050405020304" pitchFamily="18" charset="0"/>
                <a:cs typeface="Times New Roman" panose="02020603050405020304" pitchFamily="18" charset="0"/>
              </a:rPr>
              <a:t>siec</a:t>
            </a:r>
            <a:r>
              <a:rPr lang="en-IN" sz="2000" dirty="0">
                <a:latin typeface="Times New Roman" panose="02020603050405020304" pitchFamily="18" charset="0"/>
                <a:cs typeface="Times New Roman" panose="02020603050405020304" pitchFamily="18" charset="0"/>
              </a:rPr>
              <a:t>): A triple-threshold strategy for microscopic malaria cell image classification,” IEEE Access, vol. 13, pp. 101 609–101 623, 2025. </a:t>
            </a:r>
          </a:p>
          <a:p>
            <a:pPr marL="457200" indent="-457200">
              <a:buAutoNum type="arabicPeriod" startAt="8"/>
            </a:pPr>
            <a:r>
              <a:rPr lang="en-IN" sz="2000" dirty="0">
                <a:latin typeface="Times New Roman" panose="02020603050405020304" pitchFamily="18" charset="0"/>
                <a:cs typeface="Times New Roman" panose="02020603050405020304" pitchFamily="18" charset="0"/>
              </a:rPr>
              <a:t>[8] S. B. </a:t>
            </a:r>
            <a:r>
              <a:rPr lang="en-IN" sz="2000" dirty="0" err="1">
                <a:latin typeface="Times New Roman" panose="02020603050405020304" pitchFamily="18" charset="0"/>
                <a:cs typeface="Times New Roman" panose="02020603050405020304" pitchFamily="18" charset="0"/>
              </a:rPr>
              <a:t>Nettur</a:t>
            </a:r>
            <a:r>
              <a:rPr lang="en-IN" sz="2000" dirty="0">
                <a:latin typeface="Times New Roman" panose="02020603050405020304" pitchFamily="18" charset="0"/>
                <a:cs typeface="Times New Roman" panose="02020603050405020304" pitchFamily="18" charset="0"/>
              </a:rPr>
              <a:t>, N. V. R., R. Menon, K. Joseph, and A. Mathur, “</a:t>
            </a:r>
            <a:r>
              <a:rPr lang="en-IN" sz="2000" dirty="0" err="1">
                <a:latin typeface="Times New Roman" panose="02020603050405020304" pitchFamily="18" charset="0"/>
                <a:cs typeface="Times New Roman" panose="02020603050405020304" pitchFamily="18" charset="0"/>
              </a:rPr>
              <a:t>Ultralightsqueezenet</a:t>
            </a:r>
            <a:r>
              <a:rPr lang="en-IN" sz="2000" dirty="0">
                <a:latin typeface="Times New Roman" panose="02020603050405020304" pitchFamily="18" charset="0"/>
                <a:cs typeface="Times New Roman" panose="02020603050405020304" pitchFamily="18" charset="0"/>
              </a:rPr>
              <a:t>: A deep learning architecture for malaria classification with up to 54× fewer trainable parameters for resource constrained devices,” IEEE Access, vol. 13, pp. 89 428– 89 440, 2025. </a:t>
            </a:r>
          </a:p>
          <a:p>
            <a:pPr marL="457200" indent="-457200">
              <a:buAutoNum type="arabicPeriod" startAt="9"/>
            </a:pPr>
            <a:r>
              <a:rPr lang="en-IN" sz="2000" dirty="0">
                <a:latin typeface="Times New Roman" panose="02020603050405020304" pitchFamily="18" charset="0"/>
                <a:cs typeface="Times New Roman" panose="02020603050405020304" pitchFamily="18" charset="0"/>
              </a:rPr>
              <a:t>[9] </a:t>
            </a:r>
            <a:r>
              <a:rPr lang="en-US" sz="2000" dirty="0">
                <a:latin typeface="Times New Roman" panose="02020603050405020304" pitchFamily="18" charset="0"/>
                <a:cs typeface="Times New Roman" panose="02020603050405020304" pitchFamily="18" charset="0"/>
              </a:rPr>
              <a:t>Y. Benachour, F. </a:t>
            </a:r>
            <a:r>
              <a:rPr lang="en-US" sz="2000" dirty="0" err="1">
                <a:latin typeface="Times New Roman" panose="02020603050405020304" pitchFamily="18" charset="0"/>
                <a:cs typeface="Times New Roman" panose="02020603050405020304" pitchFamily="18" charset="0"/>
              </a:rPr>
              <a:t>Flitti</a:t>
            </a:r>
            <a:r>
              <a:rPr lang="en-US" sz="2000" dirty="0">
                <a:latin typeface="Times New Roman" panose="02020603050405020304" pitchFamily="18" charset="0"/>
                <a:cs typeface="Times New Roman" panose="02020603050405020304" pitchFamily="18" charset="0"/>
              </a:rPr>
              <a:t>, and H. M. Khalid, “Enhancing malaria detection through deep learning: A comparative study of convolutional neural networks,” IEEE Access, vol. 13, pp. 35 452–35 477, 2025.</a:t>
            </a:r>
            <a:endParaRPr lang="en-IN" sz="2000" dirty="0">
              <a:latin typeface="Times New Roman" panose="02020603050405020304" pitchFamily="18" charset="0"/>
              <a:cs typeface="Times New Roman" panose="02020603050405020304" pitchFamily="18" charset="0"/>
            </a:endParaRPr>
          </a:p>
          <a:p>
            <a:pPr marL="457200" indent="-457200">
              <a:buAutoNum type="arabicPeriod" startAt="10"/>
            </a:pPr>
            <a:r>
              <a:rPr lang="en-IN" sz="2000" dirty="0">
                <a:latin typeface="Times New Roman" panose="02020603050405020304" pitchFamily="18" charset="0"/>
                <a:cs typeface="Times New Roman" panose="02020603050405020304" pitchFamily="18" charset="0"/>
              </a:rPr>
              <a:t>[10] K. V. N. Reddy, Y. Narendra, M. A. N. Reddy, A. Ramu, D. V. Reddy, and S. Moturi, “Automated traffic sign recognition via </a:t>
            </a:r>
            <a:r>
              <a:rPr lang="en-IN" sz="2000" dirty="0" err="1">
                <a:latin typeface="Times New Roman" panose="02020603050405020304" pitchFamily="18" charset="0"/>
                <a:cs typeface="Times New Roman" panose="02020603050405020304" pitchFamily="18" charset="0"/>
              </a:rPr>
              <a:t>cnn</a:t>
            </a:r>
            <a:r>
              <a:rPr lang="en-IN" sz="2000" dirty="0">
                <a:latin typeface="Times New Roman" panose="02020603050405020304" pitchFamily="18" charset="0"/>
                <a:cs typeface="Times New Roman" panose="02020603050405020304" pitchFamily="18" charset="0"/>
              </a:rPr>
              <a:t> deep learning,” in 2025 IEEE International Conference on Interdisciplinary Approaches in Technology and Management for Social Innovation (IATMSI), Gwalior, India, 2025, pp. 1–6.</a:t>
            </a:r>
          </a:p>
        </p:txBody>
      </p:sp>
    </p:spTree>
    <p:extLst>
      <p:ext uri="{BB962C8B-B14F-4D97-AF65-F5344CB8AC3E}">
        <p14:creationId xmlns:p14="http://schemas.microsoft.com/office/powerpoint/2010/main" val="1083736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86C436-BF5C-0348-1F4A-0C663A444D0B}"/>
              </a:ext>
            </a:extLst>
          </p:cNvPr>
          <p:cNvSpPr txBox="1"/>
          <p:nvPr/>
        </p:nvSpPr>
        <p:spPr>
          <a:xfrm>
            <a:off x="1066800" y="1859340"/>
            <a:ext cx="9906000" cy="3170099"/>
          </a:xfrm>
          <a:prstGeom prst="rect">
            <a:avLst/>
          </a:prstGeom>
          <a:noFill/>
        </p:spPr>
        <p:txBody>
          <a:bodyPr wrap="square">
            <a:spAutoFit/>
          </a:bodyPr>
          <a:lstStyle/>
          <a:p>
            <a:pPr marL="342900" indent="-342900" algn="just">
              <a:buAutoNum type="arabicPeriod" startAt="11"/>
            </a:pPr>
            <a:r>
              <a:rPr lang="en-IN" sz="2000" dirty="0">
                <a:latin typeface="Times New Roman" panose="02020603050405020304" pitchFamily="18" charset="0"/>
                <a:cs typeface="Times New Roman" panose="02020603050405020304" pitchFamily="18" charset="0"/>
              </a:rPr>
              <a:t>  [11] S. Moturi, M. </a:t>
            </a:r>
            <a:r>
              <a:rPr lang="en-IN" sz="2000" dirty="0" err="1">
                <a:latin typeface="Times New Roman" panose="02020603050405020304" pitchFamily="18" charset="0"/>
                <a:cs typeface="Times New Roman" panose="02020603050405020304" pitchFamily="18" charset="0"/>
              </a:rPr>
              <a:t>Ainavolu</a:t>
            </a:r>
            <a:r>
              <a:rPr lang="en-IN" sz="2000" dirty="0">
                <a:latin typeface="Times New Roman" panose="02020603050405020304" pitchFamily="18" charset="0"/>
                <a:cs typeface="Times New Roman" panose="02020603050405020304" pitchFamily="18" charset="0"/>
              </a:rPr>
              <a:t>, N. R. </a:t>
            </a:r>
            <a:r>
              <a:rPr lang="en-IN" sz="2000" dirty="0" err="1">
                <a:latin typeface="Times New Roman" panose="02020603050405020304" pitchFamily="18" charset="0"/>
                <a:cs typeface="Times New Roman" panose="02020603050405020304" pitchFamily="18" charset="0"/>
              </a:rPr>
              <a:t>Dokku</a:t>
            </a:r>
            <a:r>
              <a:rPr lang="en-IN" sz="2000" dirty="0">
                <a:latin typeface="Times New Roman" panose="02020603050405020304" pitchFamily="18" charset="0"/>
                <a:cs typeface="Times New Roman" panose="02020603050405020304" pitchFamily="18" charset="0"/>
              </a:rPr>
              <a:t>, P. Kasula, N. </a:t>
            </a:r>
            <a:r>
              <a:rPr lang="en-IN" sz="2000" dirty="0" err="1">
                <a:latin typeface="Times New Roman" panose="02020603050405020304" pitchFamily="18" charset="0"/>
                <a:cs typeface="Times New Roman" panose="02020603050405020304" pitchFamily="18" charset="0"/>
              </a:rPr>
              <a:t>Yaragani</a:t>
            </a:r>
            <a:r>
              <a:rPr lang="en-IN" sz="2000" dirty="0">
                <a:latin typeface="Times New Roman" panose="02020603050405020304" pitchFamily="18" charset="0"/>
                <a:cs typeface="Times New Roman" panose="02020603050405020304" pitchFamily="18" charset="0"/>
              </a:rPr>
              <a:t>, and V. Dodda, “Enhanced lung cancer detection using deep learning ensemble approach,” in 2024 First</a:t>
            </a:r>
          </a:p>
          <a:p>
            <a:pPr algn="just"/>
            <a:r>
              <a:rPr lang="en-IN" sz="2000" dirty="0">
                <a:latin typeface="Times New Roman" panose="02020603050405020304" pitchFamily="18" charset="0"/>
                <a:cs typeface="Times New Roman" panose="02020603050405020304" pitchFamily="18" charset="0"/>
              </a:rPr>
              <a:t>       International Conference for Women in Computing (</a:t>
            </a:r>
            <a:r>
              <a:rPr lang="en-IN" sz="2000" dirty="0" err="1">
                <a:latin typeface="Times New Roman" panose="02020603050405020304" pitchFamily="18" charset="0"/>
                <a:cs typeface="Times New Roman" panose="02020603050405020304" pitchFamily="18" charset="0"/>
              </a:rPr>
              <a:t>InCoWoCo</a:t>
            </a:r>
            <a:r>
              <a:rPr lang="en-IN" sz="2000" dirty="0">
                <a:latin typeface="Times New Roman" panose="02020603050405020304" pitchFamily="18" charset="0"/>
                <a:cs typeface="Times New Roman" panose="02020603050405020304" pitchFamily="18" charset="0"/>
              </a:rPr>
              <a:t>), Pune, India, 2024, pp.</a:t>
            </a:r>
          </a:p>
          <a:p>
            <a:pPr marL="342900" indent="-342900" algn="just">
              <a:buAutoNum type="arabicPeriod" startAt="12"/>
            </a:pPr>
            <a:r>
              <a:rPr lang="en-IN" sz="2000" dirty="0">
                <a:latin typeface="Times New Roman" panose="02020603050405020304" pitchFamily="18" charset="0"/>
                <a:cs typeface="Times New Roman" panose="02020603050405020304" pitchFamily="18" charset="0"/>
              </a:rPr>
              <a:t> [12] G. B., S. M., and T. R. S. N., “Detection of arrhythmia using convolutional neural</a:t>
            </a:r>
          </a:p>
          <a:p>
            <a:pPr algn="just"/>
            <a:r>
              <a:rPr lang="en-IN" sz="2000" dirty="0">
                <a:latin typeface="Times New Roman" panose="02020603050405020304" pitchFamily="18" charset="0"/>
                <a:cs typeface="Times New Roman" panose="02020603050405020304" pitchFamily="18" charset="0"/>
              </a:rPr>
              <a:t>      networks,” in Proceedings of Second International Conference on Sustainable Expert</a:t>
            </a:r>
          </a:p>
          <a:p>
            <a:pPr algn="just"/>
            <a:r>
              <a:rPr lang="en-IN" sz="2000" dirty="0">
                <a:latin typeface="Times New Roman" panose="02020603050405020304" pitchFamily="18" charset="0"/>
                <a:cs typeface="Times New Roman" panose="02020603050405020304" pitchFamily="18" charset="0"/>
              </a:rPr>
              <a:t>      Systems, ser. Lecture Notes in Networks and Systems, S. Shakya, K. L. Du, and W.</a:t>
            </a: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Haoxiang</a:t>
            </a:r>
            <a:r>
              <a:rPr lang="en-IN" sz="2000" dirty="0">
                <a:latin typeface="Times New Roman" panose="02020603050405020304" pitchFamily="18" charset="0"/>
                <a:cs typeface="Times New Roman" panose="02020603050405020304" pitchFamily="18" charset="0"/>
              </a:rPr>
              <a:t>, Eds. Springer, Singapore, 2022, vol. 351</a:t>
            </a:r>
          </a:p>
          <a:p>
            <a:pPr marL="342900" indent="-342900" algn="just">
              <a:buAutoNum type="arabicPeriod" startAt="13"/>
            </a:pPr>
            <a:r>
              <a:rPr lang="en-IN" sz="2000" dirty="0">
                <a:latin typeface="Times New Roman" panose="02020603050405020304" pitchFamily="18" charset="0"/>
                <a:cs typeface="Times New Roman" panose="02020603050405020304" pitchFamily="18" charset="0"/>
              </a:rPr>
              <a:t> [13] S. L. </a:t>
            </a:r>
            <a:r>
              <a:rPr lang="en-IN" sz="2000" dirty="0" err="1">
                <a:latin typeface="Times New Roman" panose="02020603050405020304" pitchFamily="18" charset="0"/>
                <a:cs typeface="Times New Roman" panose="02020603050405020304" pitchFamily="18" charset="0"/>
              </a:rPr>
              <a:t>Jagannadham</a:t>
            </a:r>
            <a:r>
              <a:rPr lang="en-IN" sz="2000" dirty="0">
                <a:latin typeface="Times New Roman" panose="02020603050405020304" pitchFamily="18" charset="0"/>
                <a:cs typeface="Times New Roman" panose="02020603050405020304" pitchFamily="18" charset="0"/>
              </a:rPr>
              <a:t>, K. L. </a:t>
            </a:r>
            <a:r>
              <a:rPr lang="en-IN" sz="2000" dirty="0" err="1">
                <a:latin typeface="Times New Roman" panose="02020603050405020304" pitchFamily="18" charset="0"/>
                <a:cs typeface="Times New Roman" panose="02020603050405020304" pitchFamily="18" charset="0"/>
              </a:rPr>
              <a:t>Nadh</a:t>
            </a:r>
            <a:r>
              <a:rPr lang="en-IN" sz="2000" dirty="0">
                <a:latin typeface="Times New Roman" panose="02020603050405020304" pitchFamily="18" charset="0"/>
                <a:cs typeface="Times New Roman" panose="02020603050405020304" pitchFamily="18" charset="0"/>
              </a:rPr>
              <a:t>, and M. Sireesha, “Brain tumour detection using </a:t>
            </a:r>
            <a:r>
              <a:rPr lang="en-IN" sz="2000" dirty="0" err="1">
                <a:latin typeface="Times New Roman" panose="02020603050405020304" pitchFamily="18" charset="0"/>
                <a:cs typeface="Times New Roman" panose="02020603050405020304" pitchFamily="18" charset="0"/>
              </a:rPr>
              <a:t>cnn</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       in 2021 Fifth International Conference on I-SMAC (IoT in Social, Mobile, Analytics and</a:t>
            </a:r>
          </a:p>
          <a:p>
            <a:pPr algn="just"/>
            <a:r>
              <a:rPr lang="en-IN" sz="2000" dirty="0">
                <a:latin typeface="Times New Roman" panose="02020603050405020304" pitchFamily="18" charset="0"/>
                <a:cs typeface="Times New Roman" panose="02020603050405020304" pitchFamily="18" charset="0"/>
              </a:rPr>
              <a:t>      Cloud) (I-SMAC), </a:t>
            </a:r>
            <a:r>
              <a:rPr lang="en-IN" sz="2000" dirty="0" err="1">
                <a:latin typeface="Times New Roman" panose="02020603050405020304" pitchFamily="18" charset="0"/>
                <a:cs typeface="Times New Roman" panose="02020603050405020304" pitchFamily="18" charset="0"/>
              </a:rPr>
              <a:t>Palladam</a:t>
            </a:r>
            <a:r>
              <a:rPr lang="en-IN" sz="2000" dirty="0">
                <a:latin typeface="Times New Roman" panose="02020603050405020304" pitchFamily="18" charset="0"/>
                <a:cs typeface="Times New Roman" panose="02020603050405020304" pitchFamily="18" charset="0"/>
              </a:rPr>
              <a:t>, India, 2021, pp. 734–739</a:t>
            </a:r>
            <a:r>
              <a:rPr lang="en-IN" sz="2000" dirty="0"/>
              <a:t>.</a:t>
            </a:r>
          </a:p>
        </p:txBody>
      </p:sp>
    </p:spTree>
    <p:extLst>
      <p:ext uri="{BB962C8B-B14F-4D97-AF65-F5344CB8AC3E}">
        <p14:creationId xmlns:p14="http://schemas.microsoft.com/office/powerpoint/2010/main" val="1097969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27</a:t>
            </a:fld>
            <a:endParaRPr spc="-25" dirty="0"/>
          </a:p>
        </p:txBody>
      </p:sp>
      <p:sp>
        <p:nvSpPr>
          <p:cNvPr id="10" name="TextBox 9">
            <a:extLst>
              <a:ext uri="{FF2B5EF4-FFF2-40B4-BE49-F238E27FC236}">
                <a16:creationId xmlns:a16="http://schemas.microsoft.com/office/drawing/2014/main" id="{3FED7CAE-1FE6-051F-E875-F134CA86A4B6}"/>
              </a:ext>
            </a:extLst>
          </p:cNvPr>
          <p:cNvSpPr txBox="1"/>
          <p:nvPr/>
        </p:nvSpPr>
        <p:spPr>
          <a:xfrm>
            <a:off x="1219200" y="1371600"/>
            <a:ext cx="9731073" cy="5016758"/>
          </a:xfrm>
          <a:prstGeom prst="rect">
            <a:avLst/>
          </a:prstGeom>
          <a:noFill/>
        </p:spPr>
        <p:txBody>
          <a:bodyPr wrap="square">
            <a:spAutoFit/>
          </a:bodyPr>
          <a:lstStyle/>
          <a:p>
            <a:r>
              <a:rPr lang="en-US" sz="2000" dirty="0"/>
              <a:t>1️⃣ </a:t>
            </a:r>
            <a:r>
              <a:rPr lang="en-US" sz="2000" dirty="0">
                <a:latin typeface="Times New Roman" panose="02020603050405020304" pitchFamily="18" charset="0"/>
                <a:cs typeface="Times New Roman" panose="02020603050405020304" pitchFamily="18" charset="0"/>
              </a:rPr>
              <a:t>Q: What is the main contribution of your project?</a:t>
            </a:r>
          </a:p>
          <a:p>
            <a:r>
              <a:rPr lang="en-US" sz="2000" dirty="0">
                <a:latin typeface="Times New Roman" panose="02020603050405020304" pitchFamily="18" charset="0"/>
                <a:cs typeface="Times New Roman" panose="02020603050405020304" pitchFamily="18" charset="0"/>
              </a:rPr>
              <a:t>      A: We developed a hybrid Deep Learning model combining Convolutional Neural</a:t>
            </a:r>
          </a:p>
          <a:p>
            <a:r>
              <a:rPr lang="en-US" sz="2000" dirty="0">
                <a:latin typeface="Times New Roman" panose="02020603050405020304" pitchFamily="18" charset="0"/>
                <a:cs typeface="Times New Roman" panose="02020603050405020304" pitchFamily="18" charset="0"/>
              </a:rPr>
              <a:t>           Networks (CNNs) and Recurrent Neural Networks (RNNs) to automatically</a:t>
            </a:r>
          </a:p>
          <a:p>
            <a:r>
              <a:rPr lang="en-US" sz="2000" dirty="0">
                <a:latin typeface="Times New Roman" panose="02020603050405020304" pitchFamily="18" charset="0"/>
                <a:cs typeface="Times New Roman" panose="02020603050405020304" pitchFamily="18" charset="0"/>
              </a:rPr>
              <a:t>           detect malaria from microscopic blood smear images with high accuracy.</a:t>
            </a:r>
          </a:p>
          <a:p>
            <a:r>
              <a:rPr lang="en-US" sz="2000" dirty="0">
                <a:latin typeface="Times New Roman" panose="02020603050405020304" pitchFamily="18" charset="0"/>
                <a:cs typeface="Times New Roman" panose="02020603050405020304" pitchFamily="18" charset="0"/>
              </a:rPr>
              <a:t>2️⃣ Q: Why did you choose to combine CNN and RNN architectures?</a:t>
            </a:r>
          </a:p>
          <a:p>
            <a:r>
              <a:rPr lang="en-US" sz="2000" dirty="0">
                <a:latin typeface="Times New Roman" panose="02020603050405020304" pitchFamily="18" charset="0"/>
                <a:cs typeface="Times New Roman" panose="02020603050405020304" pitchFamily="18" charset="0"/>
              </a:rPr>
              <a:t>       A: CNNs are excellent for extracting spatial and texture-based features from</a:t>
            </a:r>
          </a:p>
          <a:p>
            <a:r>
              <a:rPr lang="en-US" sz="2000" dirty="0">
                <a:latin typeface="Times New Roman" panose="02020603050405020304" pitchFamily="18" charset="0"/>
                <a:cs typeface="Times New Roman" panose="02020603050405020304" pitchFamily="18" charset="0"/>
              </a:rPr>
              <a:t>            images, while RNNs like LSTM, GRU,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effectively learn</a:t>
            </a:r>
          </a:p>
          <a:p>
            <a:r>
              <a:rPr lang="en-US" sz="2000" dirty="0">
                <a:latin typeface="Times New Roman" panose="02020603050405020304" pitchFamily="18" charset="0"/>
                <a:cs typeface="Times New Roman" panose="02020603050405020304" pitchFamily="18" charset="0"/>
              </a:rPr>
              <a:t>            sequential dependencies among these features. Combining both improves</a:t>
            </a:r>
          </a:p>
          <a:p>
            <a:r>
              <a:rPr lang="en-US" sz="2000" dirty="0">
                <a:latin typeface="Times New Roman" panose="02020603050405020304" pitchFamily="18" charset="0"/>
                <a:cs typeface="Times New Roman" panose="02020603050405020304" pitchFamily="18" charset="0"/>
              </a:rPr>
              <a:t>            classification performance and robustness.</a:t>
            </a:r>
          </a:p>
          <a:p>
            <a:r>
              <a:rPr lang="en-US" sz="2000" dirty="0">
                <a:latin typeface="Times New Roman" panose="02020603050405020304" pitchFamily="18" charset="0"/>
                <a:cs typeface="Times New Roman" panose="02020603050405020304" pitchFamily="18" charset="0"/>
              </a:rPr>
              <a:t>3️⃣ Q: What RNN models were used for classification?</a:t>
            </a:r>
          </a:p>
          <a:p>
            <a:r>
              <a:rPr lang="en-US" sz="2000" dirty="0">
                <a:latin typeface="Times New Roman" panose="02020603050405020304" pitchFamily="18" charset="0"/>
                <a:cs typeface="Times New Roman" panose="02020603050405020304" pitchFamily="18" charset="0"/>
              </a:rPr>
              <a:t>       A: The extracted CNN features were passed through RNN-based models —</a:t>
            </a:r>
          </a:p>
          <a:p>
            <a:r>
              <a:rPr lang="en-US" sz="2000" dirty="0">
                <a:latin typeface="Times New Roman" panose="02020603050405020304" pitchFamily="18" charset="0"/>
                <a:cs typeface="Times New Roman" panose="02020603050405020304" pitchFamily="18" charset="0"/>
              </a:rPr>
              <a:t>            specifically LSTM, GRU, and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 to perform sequence-based</a:t>
            </a:r>
          </a:p>
          <a:p>
            <a:r>
              <a:rPr lang="en-US" sz="2000" dirty="0">
                <a:latin typeface="Times New Roman" panose="02020603050405020304" pitchFamily="18" charset="0"/>
                <a:cs typeface="Times New Roman" panose="02020603050405020304" pitchFamily="18" charset="0"/>
              </a:rPr>
              <a:t>            classification between infected and uninfected cells.</a:t>
            </a:r>
          </a:p>
          <a:p>
            <a:r>
              <a:rPr lang="en-US" sz="2000" dirty="0">
                <a:latin typeface="Times New Roman" panose="02020603050405020304" pitchFamily="18" charset="0"/>
                <a:cs typeface="Times New Roman" panose="02020603050405020304" pitchFamily="18" charset="0"/>
              </a:rPr>
              <a:t>4️⃣ Q: Which pretrained CNN models were used for feature extraction?</a:t>
            </a:r>
          </a:p>
          <a:p>
            <a:r>
              <a:rPr lang="en-US" sz="2000" dirty="0">
                <a:latin typeface="Times New Roman" panose="02020603050405020304" pitchFamily="18" charset="0"/>
                <a:cs typeface="Times New Roman" panose="02020603050405020304" pitchFamily="18" charset="0"/>
              </a:rPr>
              <a:t>       A: We used pretrained DenseNet121 and MobileNetV2 architectures for</a:t>
            </a:r>
          </a:p>
          <a:p>
            <a:r>
              <a:rPr lang="en-US" sz="2000" dirty="0">
                <a:latin typeface="Times New Roman" panose="02020603050405020304" pitchFamily="18" charset="0"/>
                <a:cs typeface="Times New Roman" panose="02020603050405020304" pitchFamily="18" charset="0"/>
              </a:rPr>
              <a:t>            extracting deep visual features from the malaria cell images</a:t>
            </a:r>
            <a:r>
              <a:rPr lang="en-US" sz="2000" dirty="0"/>
              <a:t>.</a:t>
            </a:r>
            <a:endParaRPr lang="en-IN"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28</a:t>
            </a:fld>
            <a:endParaRPr spc="-25" dirty="0"/>
          </a:p>
        </p:txBody>
      </p:sp>
      <p:sp>
        <p:nvSpPr>
          <p:cNvPr id="10" name="TextBox 9">
            <a:extLst>
              <a:ext uri="{FF2B5EF4-FFF2-40B4-BE49-F238E27FC236}">
                <a16:creationId xmlns:a16="http://schemas.microsoft.com/office/drawing/2014/main" id="{D4273D1B-3FC2-D766-5D4E-91ADAC9AEA4C}"/>
              </a:ext>
            </a:extLst>
          </p:cNvPr>
          <p:cNvSpPr txBox="1"/>
          <p:nvPr/>
        </p:nvSpPr>
        <p:spPr>
          <a:xfrm>
            <a:off x="1295400" y="2967335"/>
            <a:ext cx="10515600" cy="1754326"/>
          </a:xfrm>
          <a:prstGeom prst="rect">
            <a:avLst/>
          </a:prstGeom>
          <a:noFill/>
        </p:spPr>
        <p:txBody>
          <a:bodyPr wrap="square">
            <a:spAutoFit/>
          </a:bodyPr>
          <a:lstStyle/>
          <a:p>
            <a:r>
              <a:rPr lang="en-US" sz="3600" dirty="0">
                <a:highlight>
                  <a:srgbClr val="C0C0C0"/>
                </a:highlight>
              </a:rPr>
              <a:t>I sincerely thank our Head of Department, Project Guide, and Faculty Members for their continuous support and guidance throughout this project</a:t>
            </a:r>
            <a:r>
              <a:rPr lang="en-US" sz="2400" dirty="0">
                <a:highlight>
                  <a:srgbClr val="C0C0C0"/>
                </a:highlight>
              </a:rPr>
              <a:t>.</a:t>
            </a:r>
            <a:endParaRPr lang="en-IN" sz="2400" dirty="0">
              <a:highlight>
                <a:srgbClr val="C0C0C0"/>
              </a:high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1964</TotalTime>
  <Words>3091</Words>
  <Application>Microsoft Office PowerPoint</Application>
  <PresentationFormat>Widescreen</PresentationFormat>
  <Paragraphs>281</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Department of Computer Science and Engineering Automated Malaria Identification Using a Hybrid CNN-RNN Model on Microscopic Blood Smears</vt:lpstr>
      <vt:lpstr>OUTLINE</vt:lpstr>
      <vt:lpstr>ABSTRACT</vt:lpstr>
      <vt:lpstr>INTRODUCTION</vt:lpstr>
      <vt:lpstr>PowerPoint Presentation</vt:lpstr>
      <vt:lpstr>PowerPoint Presentation</vt:lpstr>
      <vt:lpstr>PowerPoint Presentation</vt:lpstr>
      <vt:lpstr>LITERATURE SURVEY</vt:lpstr>
      <vt:lpstr>PowerPoint Presentation</vt:lpstr>
      <vt:lpstr>RESEARCH GAPS</vt:lpstr>
      <vt:lpstr>PROBLEM STATEMENT</vt:lpstr>
      <vt:lpstr>OBJECTIVES</vt:lpstr>
      <vt:lpstr> FLOW CHART</vt:lpstr>
      <vt:lpstr>Flowchart Description</vt:lpstr>
      <vt:lpstr>METHODOLOGY</vt:lpstr>
      <vt:lpstr>PowerPoint Presentation</vt:lpstr>
      <vt:lpstr>PowerPoint Presentation</vt:lpstr>
      <vt:lpstr>PowerPoint Presentation</vt:lpstr>
      <vt:lpstr>IMPLEMENTATION</vt:lpstr>
      <vt:lpstr>RESULTS &amp; ANALYSIS</vt:lpstr>
      <vt:lpstr>Model Output Summary</vt:lpstr>
      <vt:lpstr>PowerPoint Presentation</vt:lpstr>
      <vt:lpstr>CONCLUSION and FUTURE SCOPE</vt:lpstr>
      <vt:lpstr>REFERENCES</vt:lpstr>
      <vt:lpstr>PowerPoint Presentation</vt:lpstr>
      <vt:lpstr>PowerPoint Presentation</vt:lpstr>
      <vt:lpstr>QUESTIONS and ANSWERS</vt:lpstr>
      <vt:lpstr>ACKNOWLEGEMENTS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asritha khajjayam</dc:creator>
  <cp:lastModifiedBy>Hemalatha muchumari</cp:lastModifiedBy>
  <cp:revision>94</cp:revision>
  <dcterms:created xsi:type="dcterms:W3CDTF">2025-11-08T13:05:15Z</dcterms:created>
  <dcterms:modified xsi:type="dcterms:W3CDTF">2025-11-11T05:51:20Z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2025-11-08T00:00:00Z</vt:filetime>
  </property>
</Properties>
</file>